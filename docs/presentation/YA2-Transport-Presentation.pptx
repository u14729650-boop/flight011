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YA² Transport, a complete logistics website for India. It covers three services: air cargo, road transport, and movers &amp; packers, across all 36 states and union territories. On the home page you see a 3D aeroplane that flies through the clouds as you scroll. In the next slides I will show what the website does, how a customer uses it, the technology behind it, and how we keep data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offers three services. Air cargo is the fastest, road transport handles full and part truck loads, and movers &amp; packers handles house and office shifting. Below are the main features: an instant price calculator, online booking with pickup and drop, online payment, live tracking with an India map, a personal dashboard, and it works on every device in light and dark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a customer uses the website. First, they calculate the price: they choose the states, weight, cargo type and speed, and get a full price breakdown. Second, they book a pickup with sender and receiver details. Third, they pay online. After payment the system creates a tracking ID. Fourth, anyone can track the shipment and see its timeline and route on the India map. Fifth, the customer sees everything in their own account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has three parts. The front end is built with React and TypeScript, with a 3D aeroplane made in three.js. The back end is a Node.js and Express server with 35 API endpoints. It calculates prices on the server, so customers cannot change them. All data is stored in an Oracle database with 10 tables, and the server creates those tables automatically on first start. For quick testing it can also use SQLite. The site covers all 36 states and union territories, and it can be deployed on Vercel or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important for us. Passwords are never saved as plain text; they are scrambled with scrypt. Login sessions use secure cookies, and the database stores only a hashed token. Every account has its own history. It records sign-ins with the device, bookings, payments and changes, and even failed password attempts, and each customer can only see their own. Customers can also continue with Google. Staff have a hidden, read-only admin console to view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We are happy to answer any questions, and we can show the website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A2F"/>
        </a:solidFill>
      </p:bgPr>
    </p:bg>
    <p:spTree>
      <p:nvGrpSpPr>
        <p:cNvPr id="1" name=""/>
        <p:cNvGrpSpPr/>
        <p:nvPr/>
      </p:nvGrpSpPr>
      <p:grpSpPr>
        <a:xfrm>
          <a:off x="0" y="0"/>
          <a:ext cx="0" cy="0"/>
          <a:chOff x="0" y="0"/>
          <a:chExt cx="0" cy="0"/>
        </a:xfrm>
      </p:grpSpPr>
      <p:sp>
        <p:nvSpPr>
          <p:cNvPr id="2" name="Shape 0"/>
          <p:cNvSpPr/>
          <p:nvPr/>
        </p:nvSpPr>
        <p:spPr>
          <a:xfrm>
            <a:off x="640080" y="685800"/>
            <a:ext cx="868680" cy="868680"/>
          </a:xfrm>
          <a:prstGeom prst="roundRect">
            <a:avLst>
              <a:gd name="adj" fmla="val 22000"/>
            </a:avLst>
          </a:prstGeom>
          <a:solidFill>
            <a:srgbClr val="146EF5"/>
          </a:solidFill>
          <a:ln w="12700">
            <a:solidFill>
              <a:srgbClr val="146EF5"/>
            </a:solidFill>
            <a:prstDash val="solid"/>
          </a:ln>
        </p:spPr>
      </p:sp>
      <p:sp>
        <p:nvSpPr>
          <p:cNvPr id="3" name="Text 1"/>
          <p:cNvSpPr txBox="1"/>
          <p:nvPr/>
        </p:nvSpPr>
        <p:spPr>
          <a:xfrm>
            <a:off x="640080" y="685800"/>
            <a:ext cx="868680" cy="868680"/>
          </a:xfrm>
          <a:prstGeom prst="rect">
            <a:avLst/>
          </a:prstGeom>
          <a:noFill/>
          <a:ln/>
        </p:spPr>
        <p:txBody>
          <a:bodyPr wrap="square" lIns="0" tIns="0" rIns="0" bIns="0" rtlCol="0" anchor="ctr"/>
          <a:lstStyle/>
          <a:p>
            <a:pPr algn="ctr" indent="0" marL="0">
              <a:buNone/>
            </a:pPr>
            <a:r>
              <a:rPr lang="en-US" sz="2470" b="1" dirty="0">
                <a:solidFill>
                  <a:srgbClr val="FFFFFF"/>
                </a:solidFill>
                <a:latin typeface="Calibri" pitchFamily="34" charset="0"/>
                <a:ea typeface="Calibri" pitchFamily="34" charset="-122"/>
                <a:cs typeface="Calibri" pitchFamily="34" charset="-120"/>
              </a:rPr>
              <a:t>YA</a:t>
            </a:r>
            <a:pPr algn="ctr" indent="0" marL="0">
              <a:buNone/>
            </a:pPr>
            <a:r>
              <a:rPr lang="en-US" sz="2470" b="1" dirty="0">
                <a:solidFill>
                  <a:srgbClr val="7FF0C8"/>
                </a:solidFill>
                <a:latin typeface="Calibri" pitchFamily="34" charset="0"/>
                <a:ea typeface="Calibri" pitchFamily="34" charset="-122"/>
                <a:cs typeface="Calibri" pitchFamily="34" charset="-120"/>
              </a:rPr>
              <a:t>²</a:t>
            </a:r>
            <a:endParaRPr lang="en-US" sz="2470" dirty="0"/>
          </a:p>
        </p:txBody>
      </p:sp>
      <p:sp>
        <p:nvSpPr>
          <p:cNvPr id="4" name="Text 2"/>
          <p:cNvSpPr txBox="1"/>
          <p:nvPr/>
        </p:nvSpPr>
        <p:spPr>
          <a:xfrm>
            <a:off x="1691640" y="960120"/>
            <a:ext cx="3657600" cy="320040"/>
          </a:xfrm>
          <a:prstGeom prst="rect">
            <a:avLst/>
          </a:prstGeom>
          <a:noFill/>
          <a:ln/>
        </p:spPr>
        <p:txBody>
          <a:bodyPr wrap="square" lIns="0" tIns="0" rIns="0" bIns="0" rtlCol="0" anchor="ctr"/>
          <a:lstStyle/>
          <a:p>
            <a:pPr indent="0" marL="0">
              <a:buNone/>
            </a:pPr>
            <a:r>
              <a:rPr lang="en-US" sz="1300" b="1" spc="400" kern="0" dirty="0">
                <a:solidFill>
                  <a:srgbClr val="8FA6C2"/>
                </a:solidFill>
                <a:latin typeface="Calibri" pitchFamily="34" charset="0"/>
                <a:ea typeface="Calibri" pitchFamily="34" charset="-122"/>
                <a:cs typeface="Calibri" pitchFamily="34" charset="-120"/>
              </a:rPr>
              <a:t>TRANSPORT · LOGISTICS</a:t>
            </a:r>
            <a:endParaRPr lang="en-US" sz="1300" dirty="0"/>
          </a:p>
        </p:txBody>
      </p:sp>
      <p:sp>
        <p:nvSpPr>
          <p:cNvPr id="5" name="Text 3"/>
          <p:cNvSpPr txBox="1"/>
          <p:nvPr/>
        </p:nvSpPr>
        <p:spPr>
          <a:xfrm>
            <a:off x="640080" y="1874520"/>
            <a:ext cx="5486400" cy="914400"/>
          </a:xfrm>
          <a:prstGeom prst="rect">
            <a:avLst/>
          </a:prstGeom>
          <a:noFill/>
          <a:ln/>
        </p:spPr>
        <p:txBody>
          <a:bodyPr wrap="square" lIns="0" tIns="0" rIns="0" bIns="0"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YA² Transport</a:t>
            </a:r>
            <a:endParaRPr lang="en-US" sz="5000" dirty="0"/>
          </a:p>
        </p:txBody>
      </p:sp>
      <p:sp>
        <p:nvSpPr>
          <p:cNvPr id="6" name="Text 4"/>
          <p:cNvSpPr txBox="1"/>
          <p:nvPr/>
        </p:nvSpPr>
        <p:spPr>
          <a:xfrm>
            <a:off x="640080" y="2788920"/>
            <a:ext cx="5486400" cy="548640"/>
          </a:xfrm>
          <a:prstGeom prst="rect">
            <a:avLst/>
          </a:prstGeom>
          <a:noFill/>
          <a:ln/>
        </p:spPr>
        <p:txBody>
          <a:bodyPr wrap="square" lIns="0" tIns="0" rIns="0" bIns="0" rtlCol="0" anchor="ctr"/>
          <a:lstStyle/>
          <a:p>
            <a:pPr indent="0" marL="0">
              <a:buNone/>
            </a:pPr>
            <a:r>
              <a:rPr lang="en-US" sz="2600" i="1" dirty="0">
                <a:solidFill>
                  <a:srgbClr val="5FE3B5"/>
                </a:solidFill>
                <a:latin typeface="Calibri" pitchFamily="34" charset="0"/>
                <a:ea typeface="Calibri" pitchFamily="34" charset="-122"/>
                <a:cs typeface="Calibri" pitchFamily="34" charset="-120"/>
              </a:rPr>
              <a:t>Moving India Forward.</a:t>
            </a:r>
            <a:endParaRPr lang="en-US" sz="2600" dirty="0"/>
          </a:p>
        </p:txBody>
      </p:sp>
      <p:sp>
        <p:nvSpPr>
          <p:cNvPr id="7" name="Text 5"/>
          <p:cNvSpPr txBox="1"/>
          <p:nvPr/>
        </p:nvSpPr>
        <p:spPr>
          <a:xfrm>
            <a:off x="640080" y="3566160"/>
            <a:ext cx="4846320" cy="1005840"/>
          </a:xfrm>
          <a:prstGeom prst="rect">
            <a:avLst/>
          </a:prstGeom>
          <a:noFill/>
          <a:ln/>
        </p:spPr>
        <p:txBody>
          <a:bodyPr wrap="square" lIns="0" tIns="0" rIns="0" bIns="0" rtlCol="0" anchor="t"/>
          <a:lstStyle/>
          <a:p>
            <a:pPr indent="0" marL="0">
              <a:spcAft>
                <a:spcPts val="600"/>
              </a:spcAft>
              <a:buNone/>
            </a:pPr>
            <a:r>
              <a:rPr lang="en-US" sz="1700" dirty="0">
                <a:solidFill>
                  <a:srgbClr val="C9D6E6"/>
                </a:solidFill>
                <a:latin typeface="Calibri" pitchFamily="34" charset="0"/>
                <a:ea typeface="Calibri" pitchFamily="34" charset="-122"/>
                <a:cs typeface="Calibri" pitchFamily="34" charset="-120"/>
              </a:rPr>
              <a:t>A complete logistics website for Air Cargo, Road Transport and Movers &amp; Packers across all 36 States &amp; UTs of India.</a:t>
            </a:r>
            <a:endParaRPr lang="en-US" sz="1700" dirty="0"/>
          </a:p>
        </p:txBody>
      </p:sp>
      <p:sp>
        <p:nvSpPr>
          <p:cNvPr id="8" name="Shape 6"/>
          <p:cNvSpPr/>
          <p:nvPr/>
        </p:nvSpPr>
        <p:spPr>
          <a:xfrm>
            <a:off x="640080" y="4892040"/>
            <a:ext cx="1554480" cy="438912"/>
          </a:xfrm>
          <a:prstGeom prst="roundRect">
            <a:avLst>
              <a:gd name="adj" fmla="val 50000"/>
            </a:avLst>
          </a:prstGeom>
          <a:solidFill>
            <a:srgbClr val="0B2A4A"/>
          </a:solidFill>
          <a:ln w="12700">
            <a:solidFill>
              <a:srgbClr val="24486F"/>
            </a:solidFill>
            <a:prstDash val="solid"/>
          </a:ln>
        </p:spPr>
      </p:sp>
      <p:sp>
        <p:nvSpPr>
          <p:cNvPr id="9" name="Text 7"/>
          <p:cNvSpPr txBox="1"/>
          <p:nvPr/>
        </p:nvSpPr>
        <p:spPr>
          <a:xfrm>
            <a:off x="640080" y="4892040"/>
            <a:ext cx="155448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Air Cargo</a:t>
            </a:r>
            <a:endParaRPr lang="en-US" sz="1300" dirty="0"/>
          </a:p>
        </p:txBody>
      </p:sp>
      <p:sp>
        <p:nvSpPr>
          <p:cNvPr id="10" name="Shape 8"/>
          <p:cNvSpPr/>
          <p:nvPr/>
        </p:nvSpPr>
        <p:spPr>
          <a:xfrm>
            <a:off x="2331720" y="4892040"/>
            <a:ext cx="1554480" cy="438912"/>
          </a:xfrm>
          <a:prstGeom prst="roundRect">
            <a:avLst>
              <a:gd name="adj" fmla="val 50000"/>
            </a:avLst>
          </a:prstGeom>
          <a:solidFill>
            <a:srgbClr val="0B2A4A"/>
          </a:solidFill>
          <a:ln w="12700">
            <a:solidFill>
              <a:srgbClr val="24486F"/>
            </a:solidFill>
            <a:prstDash val="solid"/>
          </a:ln>
        </p:spPr>
      </p:sp>
      <p:sp>
        <p:nvSpPr>
          <p:cNvPr id="11" name="Text 9"/>
          <p:cNvSpPr txBox="1"/>
          <p:nvPr/>
        </p:nvSpPr>
        <p:spPr>
          <a:xfrm>
            <a:off x="2331720" y="4892040"/>
            <a:ext cx="155448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Road Transport</a:t>
            </a:r>
            <a:endParaRPr lang="en-US" sz="1300" dirty="0"/>
          </a:p>
        </p:txBody>
      </p:sp>
      <p:sp>
        <p:nvSpPr>
          <p:cNvPr id="12" name="Shape 10"/>
          <p:cNvSpPr/>
          <p:nvPr/>
        </p:nvSpPr>
        <p:spPr>
          <a:xfrm>
            <a:off x="4023360" y="4892040"/>
            <a:ext cx="1554480" cy="438912"/>
          </a:xfrm>
          <a:prstGeom prst="roundRect">
            <a:avLst>
              <a:gd name="adj" fmla="val 50000"/>
            </a:avLst>
          </a:prstGeom>
          <a:solidFill>
            <a:srgbClr val="0B2A4A"/>
          </a:solidFill>
          <a:ln w="12700">
            <a:solidFill>
              <a:srgbClr val="24486F"/>
            </a:solidFill>
            <a:prstDash val="solid"/>
          </a:ln>
        </p:spPr>
      </p:sp>
      <p:sp>
        <p:nvSpPr>
          <p:cNvPr id="13" name="Text 11"/>
          <p:cNvSpPr txBox="1"/>
          <p:nvPr/>
        </p:nvSpPr>
        <p:spPr>
          <a:xfrm>
            <a:off x="4023360" y="4892040"/>
            <a:ext cx="155448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Movers &amp; Packers</a:t>
            </a:r>
            <a:endParaRPr lang="en-US" sz="1300" dirty="0"/>
          </a:p>
        </p:txBody>
      </p:sp>
      <p:sp>
        <p:nvSpPr>
          <p:cNvPr id="14" name="Shape 12"/>
          <p:cNvSpPr/>
          <p:nvPr/>
        </p:nvSpPr>
        <p:spPr>
          <a:xfrm>
            <a:off x="5989320" y="1234440"/>
            <a:ext cx="5669280" cy="3385820"/>
          </a:xfrm>
          <a:prstGeom prst="rect">
            <a:avLst/>
          </a:prstGeom>
          <a:solidFill>
            <a:srgbClr val="FFFFFF"/>
          </a:solidFill>
          <a:ln w="12700">
            <a:solidFill>
              <a:srgbClr val="DCE4EE"/>
            </a:solidFill>
            <a:prstDash val="solid"/>
          </a:ln>
          <a:effectLst>
            <a:outerShdw sx="100000" sy="100000" kx="0" ky="0" algn="bl" rotWithShape="0" blurRad="152400" dist="38100" dir="5400000">
              <a:srgbClr val="000000">
                <a:alpha val="18000"/>
              </a:srgbClr>
            </a:outerShdw>
          </a:effectLst>
        </p:spPr>
      </p:sp>
      <p:pic>
        <p:nvPicPr>
          <p:cNvPr id="15" name="Image 0" descr="/tmp/claude-0/deck/home.png">    </p:cNvPr>
          <p:cNvPicPr>
            <a:picLocks noChangeAspect="1"/>
          </p:cNvPicPr>
          <p:nvPr/>
        </p:nvPicPr>
        <p:blipFill>
          <a:blip r:embed="rId1"/>
          <a:stretch>
            <a:fillRect/>
          </a:stretch>
        </p:blipFill>
        <p:spPr>
          <a:xfrm>
            <a:off x="5989320" y="1234440"/>
            <a:ext cx="5669280" cy="3385820"/>
          </a:xfrm>
          <a:prstGeom prst="rect">
            <a:avLst/>
          </a:prstGeom>
        </p:spPr>
      </p:pic>
      <p:sp>
        <p:nvSpPr>
          <p:cNvPr id="16" name="Text 13"/>
          <p:cNvSpPr txBox="1"/>
          <p:nvPr/>
        </p:nvSpPr>
        <p:spPr>
          <a:xfrm>
            <a:off x="5989320" y="4754880"/>
            <a:ext cx="5669280" cy="320040"/>
          </a:xfrm>
          <a:prstGeom prst="rect">
            <a:avLst/>
          </a:prstGeom>
          <a:noFill/>
          <a:ln/>
        </p:spPr>
        <p:txBody>
          <a:bodyPr wrap="square" lIns="0" tIns="0" rIns="0" bIns="0" rtlCol="0" anchor="ctr"/>
          <a:lstStyle/>
          <a:p>
            <a:pPr algn="ctr" indent="0" marL="0">
              <a:buNone/>
            </a:pPr>
            <a:r>
              <a:rPr lang="en-US" sz="1200" i="1" dirty="0">
                <a:solidFill>
                  <a:srgbClr val="8FA6C2"/>
                </a:solidFill>
                <a:latin typeface="Calibri" pitchFamily="34" charset="0"/>
                <a:ea typeface="Calibri" pitchFamily="34" charset="-122"/>
                <a:cs typeface="Calibri" pitchFamily="34" charset="-120"/>
              </a:rPr>
              <a:t>Home page — 3D aeroplane that flies as you scroll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600" b="1" dirty="0">
                <a:solidFill>
                  <a:srgbClr val="0A1628"/>
                </a:solidFill>
                <a:latin typeface="Calibri" pitchFamily="34" charset="0"/>
                <a:ea typeface="Calibri" pitchFamily="34" charset="-122"/>
                <a:cs typeface="Calibri" pitchFamily="34" charset="-120"/>
              </a:rPr>
              <a:t>What the website offers</a:t>
            </a:r>
            <a:endParaRPr lang="en-US" sz="3600" dirty="0"/>
          </a:p>
        </p:txBody>
      </p:sp>
      <p:sp>
        <p:nvSpPr>
          <p:cNvPr id="3" name="Text 1"/>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600" dirty="0">
                <a:solidFill>
                  <a:srgbClr val="5D6B7A"/>
                </a:solidFill>
                <a:latin typeface="Calibri" pitchFamily="34" charset="0"/>
                <a:ea typeface="Calibri" pitchFamily="34" charset="-122"/>
                <a:cs typeface="Calibri" pitchFamily="34" charset="-120"/>
              </a:rPr>
              <a:t>Three services, and everything a customer needs to move goods — online.</a:t>
            </a:r>
            <a:endParaRPr lang="en-US" sz="1600" dirty="0"/>
          </a:p>
        </p:txBody>
      </p:sp>
      <p:sp>
        <p:nvSpPr>
          <p:cNvPr id="4" name="Shape 2"/>
          <p:cNvSpPr/>
          <p:nvPr/>
        </p:nvSpPr>
        <p:spPr>
          <a:xfrm>
            <a:off x="548640" y="1783080"/>
            <a:ext cx="3520440" cy="1325880"/>
          </a:xfrm>
          <a:prstGeom prst="roundRect">
            <a:avLst>
              <a:gd name="adj" fmla="val 10345"/>
            </a:avLst>
          </a:prstGeom>
          <a:solidFill>
            <a:srgbClr val="FFFFFF"/>
          </a:solidFill>
          <a:ln w="12700">
            <a:solidFill>
              <a:srgbClr val="DCE4EE"/>
            </a:solidFill>
            <a:prstDash val="solid"/>
          </a:ln>
          <a:effectLst>
            <a:outerShdw sx="100000" sy="100000" kx="0" ky="0" algn="bl" rotWithShape="0" blurRad="152400" dist="38100" dir="5400000">
              <a:srgbClr val="000000">
                <a:alpha val="18000"/>
              </a:srgbClr>
            </a:outerShdw>
          </a:effectLst>
        </p:spPr>
      </p:sp>
      <p:sp>
        <p:nvSpPr>
          <p:cNvPr id="5" name="Shape 3"/>
          <p:cNvSpPr/>
          <p:nvPr/>
        </p:nvSpPr>
        <p:spPr>
          <a:xfrm>
            <a:off x="822960" y="2011680"/>
            <a:ext cx="685800" cy="685800"/>
          </a:xfrm>
          <a:prstGeom prst="ellipse">
            <a:avLst/>
          </a:prstGeom>
          <a:solidFill>
            <a:srgbClr val="146EF5"/>
          </a:solidFill>
          <a:ln w="12700">
            <a:solidFill>
              <a:srgbClr val="146EF5"/>
            </a:solidFill>
            <a:prstDash val="solid"/>
          </a:ln>
        </p:spPr>
      </p:sp>
      <p:pic>
        <p:nvPicPr>
          <p:cNvPr id="6" name="Image 0" descr="preencoded.png">    </p:cNvPr>
          <p:cNvPicPr>
            <a:picLocks noChangeAspect="1"/>
          </p:cNvPicPr>
          <p:nvPr/>
        </p:nvPicPr>
        <p:blipFill>
          <a:blip r:embed="rId1"/>
          <a:stretch>
            <a:fillRect/>
          </a:stretch>
        </p:blipFill>
        <p:spPr>
          <a:xfrm>
            <a:off x="994410" y="2183130"/>
            <a:ext cx="342900" cy="342900"/>
          </a:xfrm>
          <a:prstGeom prst="rect">
            <a:avLst/>
          </a:prstGeom>
        </p:spPr>
      </p:pic>
      <p:sp>
        <p:nvSpPr>
          <p:cNvPr id="7" name="Text 4"/>
          <p:cNvSpPr txBox="1"/>
          <p:nvPr/>
        </p:nvSpPr>
        <p:spPr>
          <a:xfrm>
            <a:off x="1691640" y="2011680"/>
            <a:ext cx="2240280" cy="411480"/>
          </a:xfrm>
          <a:prstGeom prst="rect">
            <a:avLst/>
          </a:prstGeom>
          <a:noFill/>
          <a:ln/>
        </p:spPr>
        <p:txBody>
          <a:bodyPr wrap="square" lIns="0" tIns="0" rIns="0" bIns="0" rtlCol="0" anchor="ctr"/>
          <a:lstStyle/>
          <a:p>
            <a:pPr indent="0" marL="0">
              <a:buNone/>
            </a:pPr>
            <a:r>
              <a:rPr lang="en-US" sz="2000" b="1" dirty="0">
                <a:solidFill>
                  <a:srgbClr val="0A1628"/>
                </a:solidFill>
                <a:latin typeface="Calibri" pitchFamily="34" charset="0"/>
                <a:ea typeface="Calibri" pitchFamily="34" charset="-122"/>
                <a:cs typeface="Calibri" pitchFamily="34" charset="-120"/>
              </a:rPr>
              <a:t>Air Cargo</a:t>
            </a:r>
            <a:endParaRPr lang="en-US" sz="2000" dirty="0"/>
          </a:p>
        </p:txBody>
      </p:sp>
      <p:sp>
        <p:nvSpPr>
          <p:cNvPr id="8" name="Text 5"/>
          <p:cNvSpPr txBox="1"/>
          <p:nvPr/>
        </p:nvSpPr>
        <p:spPr>
          <a:xfrm>
            <a:off x="1691640" y="2450592"/>
            <a:ext cx="2240280" cy="822960"/>
          </a:xfrm>
          <a:prstGeom prst="rect">
            <a:avLst/>
          </a:prstGeom>
          <a:noFill/>
          <a:ln/>
        </p:spPr>
        <p:txBody>
          <a:bodyPr wrap="square" lIns="0" tIns="0" rIns="0" bIns="0" rtlCol="0" anchor="t"/>
          <a:lstStyle/>
          <a:p>
            <a:pPr indent="0" marL="0">
              <a:buNone/>
            </a:pPr>
            <a:r>
              <a:rPr lang="en-US" sz="1350" dirty="0">
                <a:solidFill>
                  <a:srgbClr val="5D6B7A"/>
                </a:solidFill>
                <a:latin typeface="Calibri" pitchFamily="34" charset="0"/>
                <a:ea typeface="Calibri" pitchFamily="34" charset="-122"/>
                <a:cs typeface="Calibri" pitchFamily="34" charset="-120"/>
              </a:rPr>
              <a:t>Fastest option for urgent parcels and documents, 1–3 days.</a:t>
            </a:r>
            <a:endParaRPr lang="en-US" sz="1350" dirty="0"/>
          </a:p>
        </p:txBody>
      </p:sp>
      <p:sp>
        <p:nvSpPr>
          <p:cNvPr id="9" name="Shape 6"/>
          <p:cNvSpPr/>
          <p:nvPr/>
        </p:nvSpPr>
        <p:spPr>
          <a:xfrm>
            <a:off x="4297680" y="1783080"/>
            <a:ext cx="3520440" cy="1325880"/>
          </a:xfrm>
          <a:prstGeom prst="roundRect">
            <a:avLst>
              <a:gd name="adj" fmla="val 10345"/>
            </a:avLst>
          </a:prstGeom>
          <a:solidFill>
            <a:srgbClr val="FFFFFF"/>
          </a:solidFill>
          <a:ln w="12700">
            <a:solidFill>
              <a:srgbClr val="DCE4EE"/>
            </a:solidFill>
            <a:prstDash val="solid"/>
          </a:ln>
          <a:effectLst>
            <a:outerShdw sx="100000" sy="100000" kx="0" ky="0" algn="bl" rotWithShape="0" blurRad="152400" dist="38100" dir="5400000">
              <a:srgbClr val="000000">
                <a:alpha val="18000"/>
              </a:srgbClr>
            </a:outerShdw>
          </a:effectLst>
        </p:spPr>
      </p:sp>
      <p:sp>
        <p:nvSpPr>
          <p:cNvPr id="10" name="Shape 7"/>
          <p:cNvSpPr/>
          <p:nvPr/>
        </p:nvSpPr>
        <p:spPr>
          <a:xfrm>
            <a:off x="4572000" y="2011680"/>
            <a:ext cx="685800" cy="685800"/>
          </a:xfrm>
          <a:prstGeom prst="ellipse">
            <a:avLst/>
          </a:prstGeom>
          <a:solidFill>
            <a:srgbClr val="146EF5"/>
          </a:solidFill>
          <a:ln w="12700">
            <a:solidFill>
              <a:srgbClr val="146EF5"/>
            </a:solidFill>
            <a:prstDash val="solid"/>
          </a:ln>
        </p:spPr>
      </p:sp>
      <p:pic>
        <p:nvPicPr>
          <p:cNvPr id="11" name="Image 1" descr="preencoded.png">    </p:cNvPr>
          <p:cNvPicPr>
            <a:picLocks noChangeAspect="1"/>
          </p:cNvPicPr>
          <p:nvPr/>
        </p:nvPicPr>
        <p:blipFill>
          <a:blip r:embed="rId2"/>
          <a:stretch>
            <a:fillRect/>
          </a:stretch>
        </p:blipFill>
        <p:spPr>
          <a:xfrm>
            <a:off x="4743450" y="2183130"/>
            <a:ext cx="342900" cy="342900"/>
          </a:xfrm>
          <a:prstGeom prst="rect">
            <a:avLst/>
          </a:prstGeom>
        </p:spPr>
      </p:pic>
      <p:sp>
        <p:nvSpPr>
          <p:cNvPr id="12" name="Text 8"/>
          <p:cNvSpPr txBox="1"/>
          <p:nvPr/>
        </p:nvSpPr>
        <p:spPr>
          <a:xfrm>
            <a:off x="5440680" y="2011680"/>
            <a:ext cx="2240280" cy="411480"/>
          </a:xfrm>
          <a:prstGeom prst="rect">
            <a:avLst/>
          </a:prstGeom>
          <a:noFill/>
          <a:ln/>
        </p:spPr>
        <p:txBody>
          <a:bodyPr wrap="square" lIns="0" tIns="0" rIns="0" bIns="0" rtlCol="0" anchor="ctr"/>
          <a:lstStyle/>
          <a:p>
            <a:pPr indent="0" marL="0">
              <a:buNone/>
            </a:pPr>
            <a:r>
              <a:rPr lang="en-US" sz="2000" b="1" dirty="0">
                <a:solidFill>
                  <a:srgbClr val="0A1628"/>
                </a:solidFill>
                <a:latin typeface="Calibri" pitchFamily="34" charset="0"/>
                <a:ea typeface="Calibri" pitchFamily="34" charset="-122"/>
                <a:cs typeface="Calibri" pitchFamily="34" charset="-120"/>
              </a:rPr>
              <a:t>Road Transport</a:t>
            </a:r>
            <a:endParaRPr lang="en-US" sz="2000" dirty="0"/>
          </a:p>
        </p:txBody>
      </p:sp>
      <p:sp>
        <p:nvSpPr>
          <p:cNvPr id="13" name="Text 9"/>
          <p:cNvSpPr txBox="1"/>
          <p:nvPr/>
        </p:nvSpPr>
        <p:spPr>
          <a:xfrm>
            <a:off x="5440680" y="2450592"/>
            <a:ext cx="2240280" cy="822960"/>
          </a:xfrm>
          <a:prstGeom prst="rect">
            <a:avLst/>
          </a:prstGeom>
          <a:noFill/>
          <a:ln/>
        </p:spPr>
        <p:txBody>
          <a:bodyPr wrap="square" lIns="0" tIns="0" rIns="0" bIns="0" rtlCol="0" anchor="t"/>
          <a:lstStyle/>
          <a:p>
            <a:pPr indent="0" marL="0">
              <a:buNone/>
            </a:pPr>
            <a:r>
              <a:rPr lang="en-US" sz="1350" dirty="0">
                <a:solidFill>
                  <a:srgbClr val="5D6B7A"/>
                </a:solidFill>
                <a:latin typeface="Calibri" pitchFamily="34" charset="0"/>
                <a:ea typeface="Calibri" pitchFamily="34" charset="-122"/>
                <a:cs typeface="Calibri" pitchFamily="34" charset="-120"/>
              </a:rPr>
              <a:t>Full and part truck loads, up to 25,000 kg, door to door.</a:t>
            </a:r>
            <a:endParaRPr lang="en-US" sz="1350" dirty="0"/>
          </a:p>
        </p:txBody>
      </p:sp>
      <p:sp>
        <p:nvSpPr>
          <p:cNvPr id="14" name="Shape 10"/>
          <p:cNvSpPr/>
          <p:nvPr/>
        </p:nvSpPr>
        <p:spPr>
          <a:xfrm>
            <a:off x="8046720" y="1783080"/>
            <a:ext cx="3520440" cy="1325880"/>
          </a:xfrm>
          <a:prstGeom prst="roundRect">
            <a:avLst>
              <a:gd name="adj" fmla="val 10345"/>
            </a:avLst>
          </a:prstGeom>
          <a:solidFill>
            <a:srgbClr val="FFFFFF"/>
          </a:solidFill>
          <a:ln w="12700">
            <a:solidFill>
              <a:srgbClr val="DCE4EE"/>
            </a:solidFill>
            <a:prstDash val="solid"/>
          </a:ln>
          <a:effectLst>
            <a:outerShdw sx="100000" sy="100000" kx="0" ky="0" algn="bl" rotWithShape="0" blurRad="152400" dist="38100" dir="5400000">
              <a:srgbClr val="000000">
                <a:alpha val="18000"/>
              </a:srgbClr>
            </a:outerShdw>
          </a:effectLst>
        </p:spPr>
      </p:sp>
      <p:sp>
        <p:nvSpPr>
          <p:cNvPr id="15" name="Shape 11"/>
          <p:cNvSpPr/>
          <p:nvPr/>
        </p:nvSpPr>
        <p:spPr>
          <a:xfrm>
            <a:off x="8321040" y="2011680"/>
            <a:ext cx="685800" cy="685800"/>
          </a:xfrm>
          <a:prstGeom prst="ellipse">
            <a:avLst/>
          </a:prstGeom>
          <a:solidFill>
            <a:srgbClr val="146EF5"/>
          </a:solidFill>
          <a:ln w="12700">
            <a:solidFill>
              <a:srgbClr val="146EF5"/>
            </a:solidFill>
            <a:prstDash val="solid"/>
          </a:ln>
        </p:spPr>
      </p:sp>
      <p:pic>
        <p:nvPicPr>
          <p:cNvPr id="16" name="Image 2" descr="preencoded.png">    </p:cNvPr>
          <p:cNvPicPr>
            <a:picLocks noChangeAspect="1"/>
          </p:cNvPicPr>
          <p:nvPr/>
        </p:nvPicPr>
        <p:blipFill>
          <a:blip r:embed="rId3"/>
          <a:stretch>
            <a:fillRect/>
          </a:stretch>
        </p:blipFill>
        <p:spPr>
          <a:xfrm>
            <a:off x="8492490" y="2183130"/>
            <a:ext cx="342900" cy="342900"/>
          </a:xfrm>
          <a:prstGeom prst="rect">
            <a:avLst/>
          </a:prstGeom>
        </p:spPr>
      </p:pic>
      <p:sp>
        <p:nvSpPr>
          <p:cNvPr id="17" name="Text 12"/>
          <p:cNvSpPr txBox="1"/>
          <p:nvPr/>
        </p:nvSpPr>
        <p:spPr>
          <a:xfrm>
            <a:off x="9189720" y="2011680"/>
            <a:ext cx="2240280" cy="411480"/>
          </a:xfrm>
          <a:prstGeom prst="rect">
            <a:avLst/>
          </a:prstGeom>
          <a:noFill/>
          <a:ln/>
        </p:spPr>
        <p:txBody>
          <a:bodyPr wrap="square" lIns="0" tIns="0" rIns="0" bIns="0" rtlCol="0" anchor="ctr"/>
          <a:lstStyle/>
          <a:p>
            <a:pPr indent="0" marL="0">
              <a:buNone/>
            </a:pPr>
            <a:r>
              <a:rPr lang="en-US" sz="2000" b="1" dirty="0">
                <a:solidFill>
                  <a:srgbClr val="0A1628"/>
                </a:solidFill>
                <a:latin typeface="Calibri" pitchFamily="34" charset="0"/>
                <a:ea typeface="Calibri" pitchFamily="34" charset="-122"/>
                <a:cs typeface="Calibri" pitchFamily="34" charset="-120"/>
              </a:rPr>
              <a:t>Movers &amp; Packers</a:t>
            </a:r>
            <a:endParaRPr lang="en-US" sz="2000" dirty="0"/>
          </a:p>
        </p:txBody>
      </p:sp>
      <p:sp>
        <p:nvSpPr>
          <p:cNvPr id="18" name="Text 13"/>
          <p:cNvSpPr txBox="1"/>
          <p:nvPr/>
        </p:nvSpPr>
        <p:spPr>
          <a:xfrm>
            <a:off x="9189720" y="2450592"/>
            <a:ext cx="2240280" cy="822960"/>
          </a:xfrm>
          <a:prstGeom prst="rect">
            <a:avLst/>
          </a:prstGeom>
          <a:noFill/>
          <a:ln/>
        </p:spPr>
        <p:txBody>
          <a:bodyPr wrap="square" lIns="0" tIns="0" rIns="0" bIns="0" rtlCol="0" anchor="t"/>
          <a:lstStyle/>
          <a:p>
            <a:pPr indent="0" marL="0">
              <a:buNone/>
            </a:pPr>
            <a:r>
              <a:rPr lang="en-US" sz="1350" dirty="0">
                <a:solidFill>
                  <a:srgbClr val="5D6B7A"/>
                </a:solidFill>
                <a:latin typeface="Calibri" pitchFamily="34" charset="0"/>
                <a:ea typeface="Calibri" pitchFamily="34" charset="-122"/>
                <a:cs typeface="Calibri" pitchFamily="34" charset="-120"/>
              </a:rPr>
              <a:t>Household and office shifting with packing and handling.</a:t>
            </a:r>
            <a:endParaRPr lang="en-US" sz="1350" dirty="0"/>
          </a:p>
        </p:txBody>
      </p:sp>
      <p:sp>
        <p:nvSpPr>
          <p:cNvPr id="19" name="Shape 14"/>
          <p:cNvSpPr/>
          <p:nvPr/>
        </p:nvSpPr>
        <p:spPr>
          <a:xfrm>
            <a:off x="548640" y="3657600"/>
            <a:ext cx="566928" cy="566928"/>
          </a:xfrm>
          <a:prstGeom prst="ellipse">
            <a:avLst/>
          </a:prstGeom>
          <a:solidFill>
            <a:srgbClr val="E3F6F0"/>
          </a:solidFill>
          <a:ln w="12700">
            <a:solidFill>
              <a:srgbClr val="E3F6F0"/>
            </a:solidFill>
            <a:prstDash val="solid"/>
          </a:ln>
        </p:spPr>
      </p:sp>
      <p:pic>
        <p:nvPicPr>
          <p:cNvPr id="20" name="Image 3" descr="preencoded.png">    </p:cNvPr>
          <p:cNvPicPr>
            <a:picLocks noChangeAspect="1"/>
          </p:cNvPicPr>
          <p:nvPr/>
        </p:nvPicPr>
        <p:blipFill>
          <a:blip r:embed="rId4"/>
          <a:stretch>
            <a:fillRect/>
          </a:stretch>
        </p:blipFill>
        <p:spPr>
          <a:xfrm>
            <a:off x="690372" y="3799332"/>
            <a:ext cx="283464" cy="283464"/>
          </a:xfrm>
          <a:prstGeom prst="rect">
            <a:avLst/>
          </a:prstGeom>
        </p:spPr>
      </p:pic>
      <p:sp>
        <p:nvSpPr>
          <p:cNvPr id="21" name="Text 15"/>
          <p:cNvSpPr txBox="1"/>
          <p:nvPr/>
        </p:nvSpPr>
        <p:spPr>
          <a:xfrm>
            <a:off x="1280160" y="3639312"/>
            <a:ext cx="2926080" cy="347472"/>
          </a:xfrm>
          <a:prstGeom prst="rect">
            <a:avLst/>
          </a:prstGeom>
          <a:noFill/>
          <a:ln/>
        </p:spPr>
        <p:txBody>
          <a:bodyPr wrap="square" lIns="0" tIns="0" rIns="0" bIns="0"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Instant price calculator</a:t>
            </a:r>
            <a:endParaRPr lang="en-US" sz="1600" dirty="0"/>
          </a:p>
        </p:txBody>
      </p:sp>
      <p:sp>
        <p:nvSpPr>
          <p:cNvPr id="22" name="Text 16"/>
          <p:cNvSpPr txBox="1"/>
          <p:nvPr/>
        </p:nvSpPr>
        <p:spPr>
          <a:xfrm>
            <a:off x="1280160" y="3986784"/>
            <a:ext cx="2926080" cy="502920"/>
          </a:xfrm>
          <a:prstGeom prst="rect">
            <a:avLst/>
          </a:prstGeom>
          <a:noFill/>
          <a:ln/>
        </p:spPr>
        <p:txBody>
          <a:bodyPr wrap="square" lIns="0" tIns="0" rIns="0" bIns="0" rtlCol="0" anchor="t"/>
          <a:lstStyle/>
          <a:p>
            <a:pPr indent="0" marL="0">
              <a:buNone/>
            </a:pPr>
            <a:r>
              <a:rPr lang="en-US" sz="1300" dirty="0">
                <a:solidFill>
                  <a:srgbClr val="5D6B7A"/>
                </a:solidFill>
                <a:latin typeface="Calibri" pitchFamily="34" charset="0"/>
                <a:ea typeface="Calibri" pitchFamily="34" charset="-122"/>
                <a:cs typeface="Calibri" pitchFamily="34" charset="-120"/>
              </a:rPr>
              <a:t>Price by distance, weight, cargo type and speed</a:t>
            </a:r>
            <a:endParaRPr lang="en-US" sz="1300" dirty="0"/>
          </a:p>
        </p:txBody>
      </p:sp>
      <p:sp>
        <p:nvSpPr>
          <p:cNvPr id="23" name="Shape 17"/>
          <p:cNvSpPr/>
          <p:nvPr/>
        </p:nvSpPr>
        <p:spPr>
          <a:xfrm>
            <a:off x="4297680" y="3657600"/>
            <a:ext cx="566928" cy="566928"/>
          </a:xfrm>
          <a:prstGeom prst="ellipse">
            <a:avLst/>
          </a:prstGeom>
          <a:solidFill>
            <a:srgbClr val="E3F6F0"/>
          </a:solidFill>
          <a:ln w="12700">
            <a:solidFill>
              <a:srgbClr val="E3F6F0"/>
            </a:solidFill>
            <a:prstDash val="solid"/>
          </a:ln>
        </p:spPr>
      </p:sp>
      <p:pic>
        <p:nvPicPr>
          <p:cNvPr id="24" name="Image 4" descr="preencoded.png">    </p:cNvPr>
          <p:cNvPicPr>
            <a:picLocks noChangeAspect="1"/>
          </p:cNvPicPr>
          <p:nvPr/>
        </p:nvPicPr>
        <p:blipFill>
          <a:blip r:embed="rId5"/>
          <a:stretch>
            <a:fillRect/>
          </a:stretch>
        </p:blipFill>
        <p:spPr>
          <a:xfrm>
            <a:off x="4439412" y="3799332"/>
            <a:ext cx="283464" cy="283464"/>
          </a:xfrm>
          <a:prstGeom prst="rect">
            <a:avLst/>
          </a:prstGeom>
        </p:spPr>
      </p:pic>
      <p:sp>
        <p:nvSpPr>
          <p:cNvPr id="25" name="Text 18"/>
          <p:cNvSpPr txBox="1"/>
          <p:nvPr/>
        </p:nvSpPr>
        <p:spPr>
          <a:xfrm>
            <a:off x="5029200" y="3639312"/>
            <a:ext cx="2926080" cy="347472"/>
          </a:xfrm>
          <a:prstGeom prst="rect">
            <a:avLst/>
          </a:prstGeom>
          <a:noFill/>
          <a:ln/>
        </p:spPr>
        <p:txBody>
          <a:bodyPr wrap="square" lIns="0" tIns="0" rIns="0" bIns="0"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Online booking</a:t>
            </a:r>
            <a:endParaRPr lang="en-US" sz="1600" dirty="0"/>
          </a:p>
        </p:txBody>
      </p:sp>
      <p:sp>
        <p:nvSpPr>
          <p:cNvPr id="26" name="Text 19"/>
          <p:cNvSpPr txBox="1"/>
          <p:nvPr/>
        </p:nvSpPr>
        <p:spPr>
          <a:xfrm>
            <a:off x="5029200" y="3986784"/>
            <a:ext cx="2926080" cy="502920"/>
          </a:xfrm>
          <a:prstGeom prst="rect">
            <a:avLst/>
          </a:prstGeom>
          <a:noFill/>
          <a:ln/>
        </p:spPr>
        <p:txBody>
          <a:bodyPr wrap="square" lIns="0" tIns="0" rIns="0" bIns="0" rtlCol="0" anchor="t"/>
          <a:lstStyle/>
          <a:p>
            <a:pPr indent="0" marL="0">
              <a:buNone/>
            </a:pPr>
            <a:r>
              <a:rPr lang="en-US" sz="1300" dirty="0">
                <a:solidFill>
                  <a:srgbClr val="5D6B7A"/>
                </a:solidFill>
                <a:latin typeface="Calibri" pitchFamily="34" charset="0"/>
                <a:ea typeface="Calibri" pitchFamily="34" charset="-122"/>
                <a:cs typeface="Calibri" pitchFamily="34" charset="-120"/>
              </a:rPr>
              <a:t>Pickup &amp; drop for any city in India</a:t>
            </a:r>
            <a:endParaRPr lang="en-US" sz="1300" dirty="0"/>
          </a:p>
        </p:txBody>
      </p:sp>
      <p:sp>
        <p:nvSpPr>
          <p:cNvPr id="27" name="Shape 20"/>
          <p:cNvSpPr/>
          <p:nvPr/>
        </p:nvSpPr>
        <p:spPr>
          <a:xfrm>
            <a:off x="8046720" y="3657600"/>
            <a:ext cx="566928" cy="566928"/>
          </a:xfrm>
          <a:prstGeom prst="ellipse">
            <a:avLst/>
          </a:prstGeom>
          <a:solidFill>
            <a:srgbClr val="E3F6F0"/>
          </a:solidFill>
          <a:ln w="12700">
            <a:solidFill>
              <a:srgbClr val="E3F6F0"/>
            </a:solidFill>
            <a:prstDash val="solid"/>
          </a:ln>
        </p:spPr>
      </p:sp>
      <p:pic>
        <p:nvPicPr>
          <p:cNvPr id="28" name="Image 5" descr="preencoded.png">    </p:cNvPr>
          <p:cNvPicPr>
            <a:picLocks noChangeAspect="1"/>
          </p:cNvPicPr>
          <p:nvPr/>
        </p:nvPicPr>
        <p:blipFill>
          <a:blip r:embed="rId6"/>
          <a:stretch>
            <a:fillRect/>
          </a:stretch>
        </p:blipFill>
        <p:spPr>
          <a:xfrm>
            <a:off x="8188452" y="3799332"/>
            <a:ext cx="283464" cy="283464"/>
          </a:xfrm>
          <a:prstGeom prst="rect">
            <a:avLst/>
          </a:prstGeom>
        </p:spPr>
      </p:pic>
      <p:sp>
        <p:nvSpPr>
          <p:cNvPr id="29" name="Text 21"/>
          <p:cNvSpPr txBox="1"/>
          <p:nvPr/>
        </p:nvSpPr>
        <p:spPr>
          <a:xfrm>
            <a:off x="8778240" y="3639312"/>
            <a:ext cx="2926080" cy="347472"/>
          </a:xfrm>
          <a:prstGeom prst="rect">
            <a:avLst/>
          </a:prstGeom>
          <a:noFill/>
          <a:ln/>
        </p:spPr>
        <p:txBody>
          <a:bodyPr wrap="square" lIns="0" tIns="0" rIns="0" bIns="0"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Online payment</a:t>
            </a:r>
            <a:endParaRPr lang="en-US" sz="1600" dirty="0"/>
          </a:p>
        </p:txBody>
      </p:sp>
      <p:sp>
        <p:nvSpPr>
          <p:cNvPr id="30" name="Text 22"/>
          <p:cNvSpPr txBox="1"/>
          <p:nvPr/>
        </p:nvSpPr>
        <p:spPr>
          <a:xfrm>
            <a:off x="8778240" y="3986784"/>
            <a:ext cx="2926080" cy="502920"/>
          </a:xfrm>
          <a:prstGeom prst="rect">
            <a:avLst/>
          </a:prstGeom>
          <a:noFill/>
          <a:ln/>
        </p:spPr>
        <p:txBody>
          <a:bodyPr wrap="square" lIns="0" tIns="0" rIns="0" bIns="0" rtlCol="0" anchor="t"/>
          <a:lstStyle/>
          <a:p>
            <a:pPr indent="0" marL="0">
              <a:buNone/>
            </a:pPr>
            <a:r>
              <a:rPr lang="en-US" sz="1300" dirty="0">
                <a:solidFill>
                  <a:srgbClr val="5D6B7A"/>
                </a:solidFill>
                <a:latin typeface="Calibri" pitchFamily="34" charset="0"/>
                <a:ea typeface="Calibri" pitchFamily="34" charset="-122"/>
                <a:cs typeface="Calibri" pitchFamily="34" charset="-120"/>
              </a:rPr>
              <a:t>UPI, cards, net banking (safe demo mode)</a:t>
            </a:r>
            <a:endParaRPr lang="en-US" sz="1300" dirty="0"/>
          </a:p>
        </p:txBody>
      </p:sp>
      <p:sp>
        <p:nvSpPr>
          <p:cNvPr id="31" name="Shape 23"/>
          <p:cNvSpPr/>
          <p:nvPr/>
        </p:nvSpPr>
        <p:spPr>
          <a:xfrm>
            <a:off x="548640" y="4892040"/>
            <a:ext cx="566928" cy="566928"/>
          </a:xfrm>
          <a:prstGeom prst="ellipse">
            <a:avLst/>
          </a:prstGeom>
          <a:solidFill>
            <a:srgbClr val="E3F6F0"/>
          </a:solidFill>
          <a:ln w="12700">
            <a:solidFill>
              <a:srgbClr val="E3F6F0"/>
            </a:solidFill>
            <a:prstDash val="solid"/>
          </a:ln>
        </p:spPr>
      </p:sp>
      <p:pic>
        <p:nvPicPr>
          <p:cNvPr id="32" name="Image 6" descr="preencoded.png">    </p:cNvPr>
          <p:cNvPicPr>
            <a:picLocks noChangeAspect="1"/>
          </p:cNvPicPr>
          <p:nvPr/>
        </p:nvPicPr>
        <p:blipFill>
          <a:blip r:embed="rId7"/>
          <a:stretch>
            <a:fillRect/>
          </a:stretch>
        </p:blipFill>
        <p:spPr>
          <a:xfrm>
            <a:off x="690372" y="5033772"/>
            <a:ext cx="283464" cy="283464"/>
          </a:xfrm>
          <a:prstGeom prst="rect">
            <a:avLst/>
          </a:prstGeom>
        </p:spPr>
      </p:pic>
      <p:sp>
        <p:nvSpPr>
          <p:cNvPr id="33" name="Text 24"/>
          <p:cNvSpPr txBox="1"/>
          <p:nvPr/>
        </p:nvSpPr>
        <p:spPr>
          <a:xfrm>
            <a:off x="1280160" y="4873752"/>
            <a:ext cx="2926080" cy="347472"/>
          </a:xfrm>
          <a:prstGeom prst="rect">
            <a:avLst/>
          </a:prstGeom>
          <a:noFill/>
          <a:ln/>
        </p:spPr>
        <p:txBody>
          <a:bodyPr wrap="square" lIns="0" tIns="0" rIns="0" bIns="0"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Live tracking</a:t>
            </a:r>
            <a:endParaRPr lang="en-US" sz="1600" dirty="0"/>
          </a:p>
        </p:txBody>
      </p:sp>
      <p:sp>
        <p:nvSpPr>
          <p:cNvPr id="34" name="Text 25"/>
          <p:cNvSpPr txBox="1"/>
          <p:nvPr/>
        </p:nvSpPr>
        <p:spPr>
          <a:xfrm>
            <a:off x="1280160" y="5221224"/>
            <a:ext cx="2926080" cy="502920"/>
          </a:xfrm>
          <a:prstGeom prst="rect">
            <a:avLst/>
          </a:prstGeom>
          <a:noFill/>
          <a:ln/>
        </p:spPr>
        <p:txBody>
          <a:bodyPr wrap="square" lIns="0" tIns="0" rIns="0" bIns="0" rtlCol="0" anchor="t"/>
          <a:lstStyle/>
          <a:p>
            <a:pPr indent="0" marL="0">
              <a:buNone/>
            </a:pPr>
            <a:r>
              <a:rPr lang="en-US" sz="1300" dirty="0">
                <a:solidFill>
                  <a:srgbClr val="5D6B7A"/>
                </a:solidFill>
                <a:latin typeface="Calibri" pitchFamily="34" charset="0"/>
                <a:ea typeface="Calibri" pitchFamily="34" charset="-122"/>
                <a:cs typeface="Calibri" pitchFamily="34" charset="-120"/>
              </a:rPr>
              <a:t>Tracking ID, timeline and route on an India map</a:t>
            </a:r>
            <a:endParaRPr lang="en-US" sz="1300" dirty="0"/>
          </a:p>
        </p:txBody>
      </p:sp>
      <p:sp>
        <p:nvSpPr>
          <p:cNvPr id="35" name="Shape 26"/>
          <p:cNvSpPr/>
          <p:nvPr/>
        </p:nvSpPr>
        <p:spPr>
          <a:xfrm>
            <a:off x="4297680" y="4892040"/>
            <a:ext cx="566928" cy="566928"/>
          </a:xfrm>
          <a:prstGeom prst="ellipse">
            <a:avLst/>
          </a:prstGeom>
          <a:solidFill>
            <a:srgbClr val="E3F6F0"/>
          </a:solidFill>
          <a:ln w="12700">
            <a:solidFill>
              <a:srgbClr val="E3F6F0"/>
            </a:solidFill>
            <a:prstDash val="solid"/>
          </a:ln>
        </p:spPr>
      </p:sp>
      <p:pic>
        <p:nvPicPr>
          <p:cNvPr id="36" name="Image 7" descr="preencoded.png">    </p:cNvPr>
          <p:cNvPicPr>
            <a:picLocks noChangeAspect="1"/>
          </p:cNvPicPr>
          <p:nvPr/>
        </p:nvPicPr>
        <p:blipFill>
          <a:blip r:embed="rId8"/>
          <a:stretch>
            <a:fillRect/>
          </a:stretch>
        </p:blipFill>
        <p:spPr>
          <a:xfrm>
            <a:off x="4439412" y="5033772"/>
            <a:ext cx="283464" cy="283464"/>
          </a:xfrm>
          <a:prstGeom prst="rect">
            <a:avLst/>
          </a:prstGeom>
        </p:spPr>
      </p:pic>
      <p:sp>
        <p:nvSpPr>
          <p:cNvPr id="37" name="Text 27"/>
          <p:cNvSpPr txBox="1"/>
          <p:nvPr/>
        </p:nvSpPr>
        <p:spPr>
          <a:xfrm>
            <a:off x="5029200" y="4873752"/>
            <a:ext cx="2926080" cy="347472"/>
          </a:xfrm>
          <a:prstGeom prst="rect">
            <a:avLst/>
          </a:prstGeom>
          <a:noFill/>
          <a:ln/>
        </p:spPr>
        <p:txBody>
          <a:bodyPr wrap="square" lIns="0" tIns="0" rIns="0" bIns="0"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My YA² dashboard</a:t>
            </a:r>
            <a:endParaRPr lang="en-US" sz="1600" dirty="0"/>
          </a:p>
        </p:txBody>
      </p:sp>
      <p:sp>
        <p:nvSpPr>
          <p:cNvPr id="38" name="Text 28"/>
          <p:cNvSpPr txBox="1"/>
          <p:nvPr/>
        </p:nvSpPr>
        <p:spPr>
          <a:xfrm>
            <a:off x="5029200" y="5221224"/>
            <a:ext cx="2926080" cy="502920"/>
          </a:xfrm>
          <a:prstGeom prst="rect">
            <a:avLst/>
          </a:prstGeom>
          <a:noFill/>
          <a:ln/>
        </p:spPr>
        <p:txBody>
          <a:bodyPr wrap="square" lIns="0" tIns="0" rIns="0" bIns="0" rtlCol="0" anchor="t"/>
          <a:lstStyle/>
          <a:p>
            <a:pPr indent="0" marL="0">
              <a:buNone/>
            </a:pPr>
            <a:r>
              <a:rPr lang="en-US" sz="1300" dirty="0">
                <a:solidFill>
                  <a:srgbClr val="5D6B7A"/>
                </a:solidFill>
                <a:latin typeface="Calibri" pitchFamily="34" charset="0"/>
                <a:ea typeface="Calibri" pitchFamily="34" charset="-122"/>
                <a:cs typeface="Calibri" pitchFamily="34" charset="-120"/>
              </a:rPr>
              <a:t>Shipments, quotes, addresses and account History</a:t>
            </a:r>
            <a:endParaRPr lang="en-US" sz="1300" dirty="0"/>
          </a:p>
        </p:txBody>
      </p:sp>
      <p:sp>
        <p:nvSpPr>
          <p:cNvPr id="39" name="Shape 29"/>
          <p:cNvSpPr/>
          <p:nvPr/>
        </p:nvSpPr>
        <p:spPr>
          <a:xfrm>
            <a:off x="8046720" y="4892040"/>
            <a:ext cx="566928" cy="566928"/>
          </a:xfrm>
          <a:prstGeom prst="ellipse">
            <a:avLst/>
          </a:prstGeom>
          <a:solidFill>
            <a:srgbClr val="E3F6F0"/>
          </a:solidFill>
          <a:ln w="12700">
            <a:solidFill>
              <a:srgbClr val="E3F6F0"/>
            </a:solidFill>
            <a:prstDash val="solid"/>
          </a:ln>
        </p:spPr>
      </p:sp>
      <p:pic>
        <p:nvPicPr>
          <p:cNvPr id="40" name="Image 8" descr="preencoded.png">    </p:cNvPr>
          <p:cNvPicPr>
            <a:picLocks noChangeAspect="1"/>
          </p:cNvPicPr>
          <p:nvPr/>
        </p:nvPicPr>
        <p:blipFill>
          <a:blip r:embed="rId9"/>
          <a:stretch>
            <a:fillRect/>
          </a:stretch>
        </p:blipFill>
        <p:spPr>
          <a:xfrm>
            <a:off x="8188452" y="5033772"/>
            <a:ext cx="283464" cy="283464"/>
          </a:xfrm>
          <a:prstGeom prst="rect">
            <a:avLst/>
          </a:prstGeom>
        </p:spPr>
      </p:pic>
      <p:sp>
        <p:nvSpPr>
          <p:cNvPr id="41" name="Text 30"/>
          <p:cNvSpPr txBox="1"/>
          <p:nvPr/>
        </p:nvSpPr>
        <p:spPr>
          <a:xfrm>
            <a:off x="8778240" y="4873752"/>
            <a:ext cx="2926080" cy="347472"/>
          </a:xfrm>
          <a:prstGeom prst="rect">
            <a:avLst/>
          </a:prstGeom>
          <a:noFill/>
          <a:ln/>
        </p:spPr>
        <p:txBody>
          <a:bodyPr wrap="square" lIns="0" tIns="0" rIns="0" bIns="0"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Works everywhere</a:t>
            </a:r>
            <a:endParaRPr lang="en-US" sz="1600" dirty="0"/>
          </a:p>
        </p:txBody>
      </p:sp>
      <p:sp>
        <p:nvSpPr>
          <p:cNvPr id="42" name="Text 31"/>
          <p:cNvSpPr txBox="1"/>
          <p:nvPr/>
        </p:nvSpPr>
        <p:spPr>
          <a:xfrm>
            <a:off x="8778240" y="5221224"/>
            <a:ext cx="2926080" cy="502920"/>
          </a:xfrm>
          <a:prstGeom prst="rect">
            <a:avLst/>
          </a:prstGeom>
          <a:noFill/>
          <a:ln/>
        </p:spPr>
        <p:txBody>
          <a:bodyPr wrap="square" lIns="0" tIns="0" rIns="0" bIns="0" rtlCol="0" anchor="t"/>
          <a:lstStyle/>
          <a:p>
            <a:pPr indent="0" marL="0">
              <a:buNone/>
            </a:pPr>
            <a:r>
              <a:rPr lang="en-US" sz="1300" dirty="0">
                <a:solidFill>
                  <a:srgbClr val="5D6B7A"/>
                </a:solidFill>
                <a:latin typeface="Calibri" pitchFamily="34" charset="0"/>
                <a:ea typeface="Calibri" pitchFamily="34" charset="-122"/>
                <a:cs typeface="Calibri" pitchFamily="34" charset="-120"/>
              </a:rPr>
              <a:t>Phone, tablet and laptop · light &amp; dark mode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600" b="1" dirty="0">
                <a:solidFill>
                  <a:srgbClr val="0A1628"/>
                </a:solidFill>
                <a:latin typeface="Calibri" pitchFamily="34" charset="0"/>
                <a:ea typeface="Calibri" pitchFamily="34" charset="-122"/>
                <a:cs typeface="Calibri" pitchFamily="34" charset="-120"/>
              </a:rPr>
              <a:t>How a customer uses it</a:t>
            </a:r>
            <a:endParaRPr lang="en-US" sz="3600" dirty="0"/>
          </a:p>
        </p:txBody>
      </p:sp>
      <p:sp>
        <p:nvSpPr>
          <p:cNvPr id="3" name="Text 1"/>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600" dirty="0">
                <a:solidFill>
                  <a:srgbClr val="5D6B7A"/>
                </a:solidFill>
                <a:latin typeface="Calibri" pitchFamily="34" charset="0"/>
                <a:ea typeface="Calibri" pitchFamily="34" charset="-122"/>
                <a:cs typeface="Calibri" pitchFamily="34" charset="-120"/>
              </a:rPr>
              <a:t>From price to delivery in five simple steps.</a:t>
            </a:r>
            <a:endParaRPr lang="en-US" sz="1600" dirty="0"/>
          </a:p>
        </p:txBody>
      </p:sp>
      <p:sp>
        <p:nvSpPr>
          <p:cNvPr id="4" name="Shape 2"/>
          <p:cNvSpPr/>
          <p:nvPr/>
        </p:nvSpPr>
        <p:spPr>
          <a:xfrm>
            <a:off x="548640" y="1691640"/>
            <a:ext cx="1965960" cy="658368"/>
          </a:xfrm>
          <a:prstGeom prst="roundRect">
            <a:avLst>
              <a:gd name="adj" fmla="val 50000"/>
            </a:avLst>
          </a:prstGeom>
          <a:solidFill>
            <a:srgbClr val="146EF5"/>
          </a:solidFill>
          <a:ln w="12700">
            <a:solidFill>
              <a:srgbClr val="146EF5"/>
            </a:solidFill>
            <a:prstDash val="solid"/>
          </a:ln>
        </p:spPr>
      </p:sp>
      <p:sp>
        <p:nvSpPr>
          <p:cNvPr id="5" name="Shape 3"/>
          <p:cNvSpPr/>
          <p:nvPr/>
        </p:nvSpPr>
        <p:spPr>
          <a:xfrm>
            <a:off x="658368" y="1801368"/>
            <a:ext cx="438912" cy="438912"/>
          </a:xfrm>
          <a:prstGeom prst="ellipse">
            <a:avLst/>
          </a:prstGeom>
          <a:solidFill>
            <a:srgbClr val="FFFFFF"/>
          </a:solidFill>
          <a:ln w="12700">
            <a:solidFill>
              <a:srgbClr val="FFFFFF"/>
            </a:solidFill>
            <a:prstDash val="solid"/>
          </a:ln>
        </p:spPr>
      </p:sp>
      <p:sp>
        <p:nvSpPr>
          <p:cNvPr id="6" name="Text 4"/>
          <p:cNvSpPr txBox="1"/>
          <p:nvPr/>
        </p:nvSpPr>
        <p:spPr>
          <a:xfrm>
            <a:off x="658368" y="1801368"/>
            <a:ext cx="438912" cy="438912"/>
          </a:xfrm>
          <a:prstGeom prst="rect">
            <a:avLst/>
          </a:prstGeom>
          <a:noFill/>
          <a:ln/>
        </p:spPr>
        <p:txBody>
          <a:bodyPr wrap="square" lIns="0" tIns="0" rIns="0" bIns="0" rtlCol="0" anchor="ctr"/>
          <a:lstStyle/>
          <a:p>
            <a:pPr algn="ctr" indent="0" marL="0">
              <a:buNone/>
            </a:pPr>
            <a:r>
              <a:rPr lang="en-US" sz="1600" b="1" dirty="0">
                <a:solidFill>
                  <a:srgbClr val="0A1628"/>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152144" y="1691640"/>
            <a:ext cx="1307592"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Calculate price</a:t>
            </a:r>
            <a:endParaRPr lang="en-US" sz="1400" dirty="0"/>
          </a:p>
        </p:txBody>
      </p:sp>
      <p:sp>
        <p:nvSpPr>
          <p:cNvPr id="8" name="Text 6"/>
          <p:cNvSpPr txBox="1"/>
          <p:nvPr/>
        </p:nvSpPr>
        <p:spPr>
          <a:xfrm>
            <a:off x="2514600" y="1691640"/>
            <a:ext cx="310896" cy="658368"/>
          </a:xfrm>
          <a:prstGeom prst="rect">
            <a:avLst/>
          </a:prstGeom>
          <a:noFill/>
          <a:ln/>
        </p:spPr>
        <p:txBody>
          <a:bodyPr wrap="square" lIns="0" tIns="0" rIns="0" bIns="0" rtlCol="0" anchor="ctr"/>
          <a:lstStyle/>
          <a:p>
            <a:pPr algn="ctr" indent="0" marL="0">
              <a:buNone/>
            </a:pPr>
            <a:r>
              <a:rPr lang="en-US" sz="2600" b="1" dirty="0">
                <a:solidFill>
                  <a:srgbClr val="5D6B7A"/>
                </a:solidFill>
                <a:latin typeface="Calibri" pitchFamily="34" charset="0"/>
                <a:ea typeface="Calibri" pitchFamily="34" charset="-122"/>
                <a:cs typeface="Calibri" pitchFamily="34" charset="-120"/>
              </a:rPr>
              <a:t>›</a:t>
            </a:r>
            <a:endParaRPr lang="en-US" sz="2600" dirty="0"/>
          </a:p>
        </p:txBody>
      </p:sp>
      <p:sp>
        <p:nvSpPr>
          <p:cNvPr id="9" name="Shape 7"/>
          <p:cNvSpPr/>
          <p:nvPr/>
        </p:nvSpPr>
        <p:spPr>
          <a:xfrm>
            <a:off x="2825496" y="1691640"/>
            <a:ext cx="1965960" cy="658368"/>
          </a:xfrm>
          <a:prstGeom prst="roundRect">
            <a:avLst>
              <a:gd name="adj" fmla="val 50000"/>
            </a:avLst>
          </a:prstGeom>
          <a:solidFill>
            <a:srgbClr val="146EF5"/>
          </a:solidFill>
          <a:ln w="12700">
            <a:solidFill>
              <a:srgbClr val="146EF5"/>
            </a:solidFill>
            <a:prstDash val="solid"/>
          </a:ln>
        </p:spPr>
      </p:sp>
      <p:sp>
        <p:nvSpPr>
          <p:cNvPr id="10" name="Shape 8"/>
          <p:cNvSpPr/>
          <p:nvPr/>
        </p:nvSpPr>
        <p:spPr>
          <a:xfrm>
            <a:off x="2935224" y="1801368"/>
            <a:ext cx="438912" cy="438912"/>
          </a:xfrm>
          <a:prstGeom prst="ellipse">
            <a:avLst/>
          </a:prstGeom>
          <a:solidFill>
            <a:srgbClr val="FFFFFF"/>
          </a:solidFill>
          <a:ln w="12700">
            <a:solidFill>
              <a:srgbClr val="FFFFFF"/>
            </a:solidFill>
            <a:prstDash val="solid"/>
          </a:ln>
        </p:spPr>
      </p:sp>
      <p:sp>
        <p:nvSpPr>
          <p:cNvPr id="11" name="Text 9"/>
          <p:cNvSpPr txBox="1"/>
          <p:nvPr/>
        </p:nvSpPr>
        <p:spPr>
          <a:xfrm>
            <a:off x="2935224" y="1801368"/>
            <a:ext cx="438912" cy="438912"/>
          </a:xfrm>
          <a:prstGeom prst="rect">
            <a:avLst/>
          </a:prstGeom>
          <a:noFill/>
          <a:ln/>
        </p:spPr>
        <p:txBody>
          <a:bodyPr wrap="square" lIns="0" tIns="0" rIns="0" bIns="0" rtlCol="0" anchor="ctr"/>
          <a:lstStyle/>
          <a:p>
            <a:pPr algn="ctr" indent="0" marL="0">
              <a:buNone/>
            </a:pPr>
            <a:r>
              <a:rPr lang="en-US" sz="1600" b="1" dirty="0">
                <a:solidFill>
                  <a:srgbClr val="0A1628"/>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3429000" y="1691640"/>
            <a:ext cx="1307592"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Book pickup</a:t>
            </a:r>
            <a:endParaRPr lang="en-US" sz="1400" dirty="0"/>
          </a:p>
        </p:txBody>
      </p:sp>
      <p:sp>
        <p:nvSpPr>
          <p:cNvPr id="13" name="Text 11"/>
          <p:cNvSpPr txBox="1"/>
          <p:nvPr/>
        </p:nvSpPr>
        <p:spPr>
          <a:xfrm>
            <a:off x="4791456" y="1691640"/>
            <a:ext cx="310896" cy="658368"/>
          </a:xfrm>
          <a:prstGeom prst="rect">
            <a:avLst/>
          </a:prstGeom>
          <a:noFill/>
          <a:ln/>
        </p:spPr>
        <p:txBody>
          <a:bodyPr wrap="square" lIns="0" tIns="0" rIns="0" bIns="0" rtlCol="0" anchor="ctr"/>
          <a:lstStyle/>
          <a:p>
            <a:pPr algn="ctr" indent="0" marL="0">
              <a:buNone/>
            </a:pPr>
            <a:r>
              <a:rPr lang="en-US" sz="2600" b="1" dirty="0">
                <a:solidFill>
                  <a:srgbClr val="5D6B7A"/>
                </a:solidFill>
                <a:latin typeface="Calibri" pitchFamily="34" charset="0"/>
                <a:ea typeface="Calibri" pitchFamily="34" charset="-122"/>
                <a:cs typeface="Calibri" pitchFamily="34" charset="-120"/>
              </a:rPr>
              <a:t>›</a:t>
            </a:r>
            <a:endParaRPr lang="en-US" sz="2600" dirty="0"/>
          </a:p>
        </p:txBody>
      </p:sp>
      <p:sp>
        <p:nvSpPr>
          <p:cNvPr id="14" name="Shape 12"/>
          <p:cNvSpPr/>
          <p:nvPr/>
        </p:nvSpPr>
        <p:spPr>
          <a:xfrm>
            <a:off x="5102352" y="1691640"/>
            <a:ext cx="1965960" cy="658368"/>
          </a:xfrm>
          <a:prstGeom prst="roundRect">
            <a:avLst>
              <a:gd name="adj" fmla="val 50000"/>
            </a:avLst>
          </a:prstGeom>
          <a:solidFill>
            <a:srgbClr val="00A878"/>
          </a:solidFill>
          <a:ln w="12700">
            <a:solidFill>
              <a:srgbClr val="00A878"/>
            </a:solidFill>
            <a:prstDash val="solid"/>
          </a:ln>
        </p:spPr>
      </p:sp>
      <p:sp>
        <p:nvSpPr>
          <p:cNvPr id="15" name="Shape 13"/>
          <p:cNvSpPr/>
          <p:nvPr/>
        </p:nvSpPr>
        <p:spPr>
          <a:xfrm>
            <a:off x="5212080" y="1801368"/>
            <a:ext cx="438912" cy="438912"/>
          </a:xfrm>
          <a:prstGeom prst="ellipse">
            <a:avLst/>
          </a:prstGeom>
          <a:solidFill>
            <a:srgbClr val="FFFFFF"/>
          </a:solidFill>
          <a:ln w="12700">
            <a:solidFill>
              <a:srgbClr val="FFFFFF"/>
            </a:solidFill>
            <a:prstDash val="solid"/>
          </a:ln>
        </p:spPr>
      </p:sp>
      <p:sp>
        <p:nvSpPr>
          <p:cNvPr id="16" name="Text 14"/>
          <p:cNvSpPr txBox="1"/>
          <p:nvPr/>
        </p:nvSpPr>
        <p:spPr>
          <a:xfrm>
            <a:off x="5212080" y="1801368"/>
            <a:ext cx="438912" cy="438912"/>
          </a:xfrm>
          <a:prstGeom prst="rect">
            <a:avLst/>
          </a:prstGeom>
          <a:noFill/>
          <a:ln/>
        </p:spPr>
        <p:txBody>
          <a:bodyPr wrap="square" lIns="0" tIns="0" rIns="0" bIns="0" rtlCol="0" anchor="ctr"/>
          <a:lstStyle/>
          <a:p>
            <a:pPr algn="ctr" indent="0" marL="0">
              <a:buNone/>
            </a:pPr>
            <a:r>
              <a:rPr lang="en-US" sz="1600" b="1" dirty="0">
                <a:solidFill>
                  <a:srgbClr val="0A1628"/>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5705856" y="1691640"/>
            <a:ext cx="1307592"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Pay online</a:t>
            </a:r>
            <a:endParaRPr lang="en-US" sz="1400" dirty="0"/>
          </a:p>
        </p:txBody>
      </p:sp>
      <p:sp>
        <p:nvSpPr>
          <p:cNvPr id="18" name="Text 16"/>
          <p:cNvSpPr txBox="1"/>
          <p:nvPr/>
        </p:nvSpPr>
        <p:spPr>
          <a:xfrm>
            <a:off x="7068312" y="1691640"/>
            <a:ext cx="310896" cy="658368"/>
          </a:xfrm>
          <a:prstGeom prst="rect">
            <a:avLst/>
          </a:prstGeom>
          <a:noFill/>
          <a:ln/>
        </p:spPr>
        <p:txBody>
          <a:bodyPr wrap="square" lIns="0" tIns="0" rIns="0" bIns="0" rtlCol="0" anchor="ctr"/>
          <a:lstStyle/>
          <a:p>
            <a:pPr algn="ctr" indent="0" marL="0">
              <a:buNone/>
            </a:pPr>
            <a:r>
              <a:rPr lang="en-US" sz="2600" b="1" dirty="0">
                <a:solidFill>
                  <a:srgbClr val="5D6B7A"/>
                </a:solidFill>
                <a:latin typeface="Calibri" pitchFamily="34" charset="0"/>
                <a:ea typeface="Calibri" pitchFamily="34" charset="-122"/>
                <a:cs typeface="Calibri" pitchFamily="34" charset="-120"/>
              </a:rPr>
              <a:t>›</a:t>
            </a:r>
            <a:endParaRPr lang="en-US" sz="2600" dirty="0"/>
          </a:p>
        </p:txBody>
      </p:sp>
      <p:sp>
        <p:nvSpPr>
          <p:cNvPr id="19" name="Shape 17"/>
          <p:cNvSpPr/>
          <p:nvPr/>
        </p:nvSpPr>
        <p:spPr>
          <a:xfrm>
            <a:off x="7379208" y="1691640"/>
            <a:ext cx="1965960" cy="658368"/>
          </a:xfrm>
          <a:prstGeom prst="roundRect">
            <a:avLst>
              <a:gd name="adj" fmla="val 50000"/>
            </a:avLst>
          </a:prstGeom>
          <a:solidFill>
            <a:srgbClr val="146EF5"/>
          </a:solidFill>
          <a:ln w="12700">
            <a:solidFill>
              <a:srgbClr val="146EF5"/>
            </a:solidFill>
            <a:prstDash val="solid"/>
          </a:ln>
        </p:spPr>
      </p:sp>
      <p:sp>
        <p:nvSpPr>
          <p:cNvPr id="20" name="Shape 18"/>
          <p:cNvSpPr/>
          <p:nvPr/>
        </p:nvSpPr>
        <p:spPr>
          <a:xfrm>
            <a:off x="7488936" y="1801368"/>
            <a:ext cx="438912" cy="438912"/>
          </a:xfrm>
          <a:prstGeom prst="ellipse">
            <a:avLst/>
          </a:prstGeom>
          <a:solidFill>
            <a:srgbClr val="FFFFFF"/>
          </a:solidFill>
          <a:ln w="12700">
            <a:solidFill>
              <a:srgbClr val="FFFFFF"/>
            </a:solidFill>
            <a:prstDash val="solid"/>
          </a:ln>
        </p:spPr>
      </p:sp>
      <p:sp>
        <p:nvSpPr>
          <p:cNvPr id="21" name="Text 19"/>
          <p:cNvSpPr txBox="1"/>
          <p:nvPr/>
        </p:nvSpPr>
        <p:spPr>
          <a:xfrm>
            <a:off x="7488936" y="1801368"/>
            <a:ext cx="438912" cy="438912"/>
          </a:xfrm>
          <a:prstGeom prst="rect">
            <a:avLst/>
          </a:prstGeom>
          <a:noFill/>
          <a:ln/>
        </p:spPr>
        <p:txBody>
          <a:bodyPr wrap="square" lIns="0" tIns="0" rIns="0" bIns="0" rtlCol="0" anchor="ctr"/>
          <a:lstStyle/>
          <a:p>
            <a:pPr algn="ctr" indent="0" marL="0">
              <a:buNone/>
            </a:pPr>
            <a:r>
              <a:rPr lang="en-US" sz="1600" b="1" dirty="0">
                <a:solidFill>
                  <a:srgbClr val="0A1628"/>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7982712" y="1691640"/>
            <a:ext cx="1307592"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Track shipment</a:t>
            </a:r>
            <a:endParaRPr lang="en-US" sz="1400" dirty="0"/>
          </a:p>
        </p:txBody>
      </p:sp>
      <p:sp>
        <p:nvSpPr>
          <p:cNvPr id="23" name="Text 21"/>
          <p:cNvSpPr txBox="1"/>
          <p:nvPr/>
        </p:nvSpPr>
        <p:spPr>
          <a:xfrm>
            <a:off x="9345168" y="1691640"/>
            <a:ext cx="310896" cy="658368"/>
          </a:xfrm>
          <a:prstGeom prst="rect">
            <a:avLst/>
          </a:prstGeom>
          <a:noFill/>
          <a:ln/>
        </p:spPr>
        <p:txBody>
          <a:bodyPr wrap="square" lIns="0" tIns="0" rIns="0" bIns="0" rtlCol="0" anchor="ctr"/>
          <a:lstStyle/>
          <a:p>
            <a:pPr algn="ctr" indent="0" marL="0">
              <a:buNone/>
            </a:pPr>
            <a:r>
              <a:rPr lang="en-US" sz="2600" b="1" dirty="0">
                <a:solidFill>
                  <a:srgbClr val="5D6B7A"/>
                </a:solidFill>
                <a:latin typeface="Calibri" pitchFamily="34" charset="0"/>
                <a:ea typeface="Calibri" pitchFamily="34" charset="-122"/>
                <a:cs typeface="Calibri" pitchFamily="34" charset="-120"/>
              </a:rPr>
              <a:t>›</a:t>
            </a:r>
            <a:endParaRPr lang="en-US" sz="2600" dirty="0"/>
          </a:p>
        </p:txBody>
      </p:sp>
      <p:sp>
        <p:nvSpPr>
          <p:cNvPr id="24" name="Shape 22"/>
          <p:cNvSpPr/>
          <p:nvPr/>
        </p:nvSpPr>
        <p:spPr>
          <a:xfrm>
            <a:off x="9656064" y="1691640"/>
            <a:ext cx="1965960" cy="658368"/>
          </a:xfrm>
          <a:prstGeom prst="roundRect">
            <a:avLst>
              <a:gd name="adj" fmla="val 50000"/>
            </a:avLst>
          </a:prstGeom>
          <a:solidFill>
            <a:srgbClr val="146EF5"/>
          </a:solidFill>
          <a:ln w="12700">
            <a:solidFill>
              <a:srgbClr val="146EF5"/>
            </a:solidFill>
            <a:prstDash val="solid"/>
          </a:ln>
        </p:spPr>
      </p:sp>
      <p:sp>
        <p:nvSpPr>
          <p:cNvPr id="25" name="Shape 23"/>
          <p:cNvSpPr/>
          <p:nvPr/>
        </p:nvSpPr>
        <p:spPr>
          <a:xfrm>
            <a:off x="9765792" y="1801368"/>
            <a:ext cx="438912" cy="438912"/>
          </a:xfrm>
          <a:prstGeom prst="ellipse">
            <a:avLst/>
          </a:prstGeom>
          <a:solidFill>
            <a:srgbClr val="FFFFFF"/>
          </a:solidFill>
          <a:ln w="12700">
            <a:solidFill>
              <a:srgbClr val="FFFFFF"/>
            </a:solidFill>
            <a:prstDash val="solid"/>
          </a:ln>
        </p:spPr>
      </p:sp>
      <p:sp>
        <p:nvSpPr>
          <p:cNvPr id="26" name="Text 24"/>
          <p:cNvSpPr txBox="1"/>
          <p:nvPr/>
        </p:nvSpPr>
        <p:spPr>
          <a:xfrm>
            <a:off x="9765792" y="1801368"/>
            <a:ext cx="438912" cy="438912"/>
          </a:xfrm>
          <a:prstGeom prst="rect">
            <a:avLst/>
          </a:prstGeom>
          <a:noFill/>
          <a:ln/>
        </p:spPr>
        <p:txBody>
          <a:bodyPr wrap="square" lIns="0" tIns="0" rIns="0" bIns="0" rtlCol="0" anchor="ctr"/>
          <a:lstStyle/>
          <a:p>
            <a:pPr algn="ctr" indent="0" marL="0">
              <a:buNone/>
            </a:pPr>
            <a:r>
              <a:rPr lang="en-US" sz="1600" b="1" dirty="0">
                <a:solidFill>
                  <a:srgbClr val="0A1628"/>
                </a:solidFill>
                <a:latin typeface="Calibri" pitchFamily="34" charset="0"/>
                <a:ea typeface="Calibri" pitchFamily="34" charset="-122"/>
                <a:cs typeface="Calibri" pitchFamily="34" charset="-120"/>
              </a:rPr>
              <a:t>5</a:t>
            </a:r>
            <a:endParaRPr lang="en-US" sz="1600" dirty="0"/>
          </a:p>
        </p:txBody>
      </p:sp>
      <p:sp>
        <p:nvSpPr>
          <p:cNvPr id="27" name="Text 25"/>
          <p:cNvSpPr txBox="1"/>
          <p:nvPr/>
        </p:nvSpPr>
        <p:spPr>
          <a:xfrm>
            <a:off x="10259568" y="1691640"/>
            <a:ext cx="1307592"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See history</a:t>
            </a:r>
            <a:endParaRPr lang="en-US" sz="1400" dirty="0"/>
          </a:p>
        </p:txBody>
      </p:sp>
      <p:sp>
        <p:nvSpPr>
          <p:cNvPr id="28" name="Shape 26"/>
          <p:cNvSpPr/>
          <p:nvPr/>
        </p:nvSpPr>
        <p:spPr>
          <a:xfrm>
            <a:off x="548640" y="2743200"/>
            <a:ext cx="5440680" cy="3170948"/>
          </a:xfrm>
          <a:prstGeom prst="rect">
            <a:avLst/>
          </a:prstGeom>
          <a:solidFill>
            <a:srgbClr val="FFFFFF"/>
          </a:solidFill>
          <a:ln w="12700">
            <a:solidFill>
              <a:srgbClr val="DCE4EE"/>
            </a:solidFill>
            <a:prstDash val="solid"/>
          </a:ln>
          <a:effectLst>
            <a:outerShdw sx="100000" sy="100000" kx="0" ky="0" algn="bl" rotWithShape="0" blurRad="152400" dist="38100" dir="5400000">
              <a:srgbClr val="000000">
                <a:alpha val="18000"/>
              </a:srgbClr>
            </a:outerShdw>
          </a:effectLst>
        </p:spPr>
      </p:sp>
      <p:pic>
        <p:nvPicPr>
          <p:cNvPr id="29" name="Image 0" descr="/tmp/claude-0/deck/calc.png">    </p:cNvPr>
          <p:cNvPicPr>
            <a:picLocks noChangeAspect="1"/>
          </p:cNvPicPr>
          <p:nvPr/>
        </p:nvPicPr>
        <p:blipFill>
          <a:blip r:embed="rId1"/>
          <a:stretch>
            <a:fillRect/>
          </a:stretch>
        </p:blipFill>
        <p:spPr>
          <a:xfrm>
            <a:off x="548640" y="2743200"/>
            <a:ext cx="5440680" cy="3170948"/>
          </a:xfrm>
          <a:prstGeom prst="rect">
            <a:avLst/>
          </a:prstGeom>
        </p:spPr>
      </p:pic>
      <p:sp>
        <p:nvSpPr>
          <p:cNvPr id="30" name="Shape 27"/>
          <p:cNvSpPr/>
          <p:nvPr/>
        </p:nvSpPr>
        <p:spPr>
          <a:xfrm>
            <a:off x="6217920" y="2743200"/>
            <a:ext cx="5440680" cy="3249295"/>
          </a:xfrm>
          <a:prstGeom prst="rect">
            <a:avLst/>
          </a:prstGeom>
          <a:solidFill>
            <a:srgbClr val="FFFFFF"/>
          </a:solidFill>
          <a:ln w="12700">
            <a:solidFill>
              <a:srgbClr val="DCE4EE"/>
            </a:solidFill>
            <a:prstDash val="solid"/>
          </a:ln>
          <a:effectLst>
            <a:outerShdw sx="100000" sy="100000" kx="0" ky="0" algn="bl" rotWithShape="0" blurRad="152400" dist="38100" dir="5400000">
              <a:srgbClr val="000000">
                <a:alpha val="18000"/>
              </a:srgbClr>
            </a:outerShdw>
          </a:effectLst>
        </p:spPr>
      </p:sp>
      <p:pic>
        <p:nvPicPr>
          <p:cNvPr id="31" name="Image 1" descr="/tmp/claude-0/deck/track.png">    </p:cNvPr>
          <p:cNvPicPr>
            <a:picLocks noChangeAspect="1"/>
          </p:cNvPicPr>
          <p:nvPr/>
        </p:nvPicPr>
        <p:blipFill>
          <a:blip r:embed="rId2"/>
          <a:stretch>
            <a:fillRect/>
          </a:stretch>
        </p:blipFill>
        <p:spPr>
          <a:xfrm>
            <a:off x="6217920" y="2743200"/>
            <a:ext cx="5440680" cy="3249295"/>
          </a:xfrm>
          <a:prstGeom prst="rect">
            <a:avLst/>
          </a:prstGeom>
        </p:spPr>
      </p:pic>
      <p:sp>
        <p:nvSpPr>
          <p:cNvPr id="32" name="Text 28"/>
          <p:cNvSpPr txBox="1"/>
          <p:nvPr/>
        </p:nvSpPr>
        <p:spPr>
          <a:xfrm>
            <a:off x="548640" y="5989320"/>
            <a:ext cx="5440680" cy="320040"/>
          </a:xfrm>
          <a:prstGeom prst="rect">
            <a:avLst/>
          </a:prstGeom>
          <a:noFill/>
          <a:ln/>
        </p:spPr>
        <p:txBody>
          <a:bodyPr wrap="square" lIns="0" tIns="0" rIns="0" bIns="0" rtlCol="0" anchor="ctr"/>
          <a:lstStyle/>
          <a:p>
            <a:pPr algn="ctr" indent="0" marL="0">
              <a:buNone/>
            </a:pPr>
            <a:r>
              <a:rPr lang="en-US" sz="1200" i="1" dirty="0">
                <a:solidFill>
                  <a:srgbClr val="5D6B7A"/>
                </a:solidFill>
                <a:latin typeface="Calibri" pitchFamily="34" charset="0"/>
                <a:ea typeface="Calibri" pitchFamily="34" charset="-122"/>
                <a:cs typeface="Calibri" pitchFamily="34" charset="-120"/>
              </a:rPr>
              <a:t>Price calculator — full price breakdown before booking</a:t>
            </a:r>
            <a:endParaRPr lang="en-US" sz="1200" dirty="0"/>
          </a:p>
        </p:txBody>
      </p:sp>
      <p:sp>
        <p:nvSpPr>
          <p:cNvPr id="33" name="Text 29"/>
          <p:cNvSpPr txBox="1"/>
          <p:nvPr/>
        </p:nvSpPr>
        <p:spPr>
          <a:xfrm>
            <a:off x="6217920" y="5989320"/>
            <a:ext cx="5440680" cy="320040"/>
          </a:xfrm>
          <a:prstGeom prst="rect">
            <a:avLst/>
          </a:prstGeom>
          <a:noFill/>
          <a:ln/>
        </p:spPr>
        <p:txBody>
          <a:bodyPr wrap="square" lIns="0" tIns="0" rIns="0" bIns="0" rtlCol="0" anchor="ctr"/>
          <a:lstStyle/>
          <a:p>
            <a:pPr algn="ctr" indent="0" marL="0">
              <a:buNone/>
            </a:pPr>
            <a:r>
              <a:rPr lang="en-US" sz="1200" i="1" dirty="0">
                <a:solidFill>
                  <a:srgbClr val="5D6B7A"/>
                </a:solidFill>
                <a:latin typeface="Calibri" pitchFamily="34" charset="0"/>
                <a:ea typeface="Calibri" pitchFamily="34" charset="-122"/>
                <a:cs typeface="Calibri" pitchFamily="34" charset="-120"/>
              </a:rPr>
              <a:t>Tracking — status, timeline and route on the India map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600" b="1" dirty="0">
                <a:solidFill>
                  <a:srgbClr val="0A1628"/>
                </a:solidFill>
                <a:latin typeface="Calibri" pitchFamily="34" charset="0"/>
                <a:ea typeface="Calibri" pitchFamily="34" charset="-122"/>
                <a:cs typeface="Calibri" pitchFamily="34" charset="-120"/>
              </a:rPr>
              <a:t>Technology behind the website</a:t>
            </a:r>
            <a:endParaRPr lang="en-US" sz="3600" dirty="0"/>
          </a:p>
        </p:txBody>
      </p:sp>
      <p:sp>
        <p:nvSpPr>
          <p:cNvPr id="3" name="Text 1"/>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600" dirty="0">
                <a:solidFill>
                  <a:srgbClr val="5D6B7A"/>
                </a:solidFill>
                <a:latin typeface="Calibri" pitchFamily="34" charset="0"/>
                <a:ea typeface="Calibri" pitchFamily="34" charset="-122"/>
                <a:cs typeface="Calibri" pitchFamily="34" charset="-120"/>
              </a:rPr>
              <a:t>A real three-part system: website, server and Oracle database.</a:t>
            </a:r>
            <a:endParaRPr lang="en-US" sz="1600" dirty="0"/>
          </a:p>
        </p:txBody>
      </p:sp>
      <p:sp>
        <p:nvSpPr>
          <p:cNvPr id="4" name="Shape 2"/>
          <p:cNvSpPr/>
          <p:nvPr/>
        </p:nvSpPr>
        <p:spPr>
          <a:xfrm>
            <a:off x="548640" y="1737360"/>
            <a:ext cx="3246120" cy="2331720"/>
          </a:xfrm>
          <a:prstGeom prst="roundRect">
            <a:avLst>
              <a:gd name="adj" fmla="val 5882"/>
            </a:avLst>
          </a:prstGeom>
          <a:solidFill>
            <a:srgbClr val="FFFFFF"/>
          </a:solidFill>
          <a:ln w="12700">
            <a:solidFill>
              <a:srgbClr val="DCE4EE"/>
            </a:solidFill>
            <a:prstDash val="solid"/>
          </a:ln>
          <a:effectLst>
            <a:outerShdw sx="100000" sy="100000" kx="0" ky="0" algn="bl" rotWithShape="0" blurRad="152400" dist="38100" dir="5400000">
              <a:srgbClr val="000000">
                <a:alpha val="18000"/>
              </a:srgbClr>
            </a:outerShdw>
          </a:effectLst>
        </p:spPr>
      </p:sp>
      <p:sp>
        <p:nvSpPr>
          <p:cNvPr id="5" name="Shape 3"/>
          <p:cNvSpPr/>
          <p:nvPr/>
        </p:nvSpPr>
        <p:spPr>
          <a:xfrm>
            <a:off x="822960" y="2011680"/>
            <a:ext cx="640080" cy="640080"/>
          </a:xfrm>
          <a:prstGeom prst="ellipse">
            <a:avLst/>
          </a:prstGeom>
          <a:solidFill>
            <a:srgbClr val="E7F0FE"/>
          </a:solidFill>
          <a:ln w="12700">
            <a:solidFill>
              <a:srgbClr val="E7F0FE"/>
            </a:solidFill>
            <a:prstDash val="solid"/>
          </a:ln>
        </p:spPr>
      </p:sp>
      <p:pic>
        <p:nvPicPr>
          <p:cNvPr id="6" name="Image 0" descr="preencoded.png">    </p:cNvPr>
          <p:cNvPicPr>
            <a:picLocks noChangeAspect="1"/>
          </p:cNvPicPr>
          <p:nvPr/>
        </p:nvPicPr>
        <p:blipFill>
          <a:blip r:embed="rId1"/>
          <a:stretch>
            <a:fillRect/>
          </a:stretch>
        </p:blipFill>
        <p:spPr>
          <a:xfrm>
            <a:off x="982980" y="2171700"/>
            <a:ext cx="320040" cy="320040"/>
          </a:xfrm>
          <a:prstGeom prst="rect">
            <a:avLst/>
          </a:prstGeom>
        </p:spPr>
      </p:pic>
      <p:sp>
        <p:nvSpPr>
          <p:cNvPr id="7" name="Text 4"/>
          <p:cNvSpPr txBox="1"/>
          <p:nvPr/>
        </p:nvSpPr>
        <p:spPr>
          <a:xfrm>
            <a:off x="1600200" y="2084832"/>
            <a:ext cx="2057400" cy="502920"/>
          </a:xfrm>
          <a:prstGeom prst="rect">
            <a:avLst/>
          </a:prstGeom>
          <a:noFill/>
          <a:ln/>
        </p:spPr>
        <p:txBody>
          <a:bodyPr wrap="square" lIns="0" tIns="0" rIns="0" bIns="0"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Website (front end)</a:t>
            </a:r>
            <a:endParaRPr lang="en-US" sz="1800" dirty="0"/>
          </a:p>
        </p:txBody>
      </p:sp>
      <p:sp>
        <p:nvSpPr>
          <p:cNvPr id="8" name="Text 5"/>
          <p:cNvSpPr txBox="1"/>
          <p:nvPr/>
        </p:nvSpPr>
        <p:spPr>
          <a:xfrm>
            <a:off x="868680" y="2834640"/>
            <a:ext cx="269748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2324A"/>
                </a:solidFill>
                <a:latin typeface="Calibri" pitchFamily="34" charset="0"/>
                <a:ea typeface="Calibri" pitchFamily="34" charset="-122"/>
                <a:cs typeface="Calibri" pitchFamily="34" charset="-120"/>
              </a:rPr>
              <a:t>React + TypeScript</a:t>
            </a:r>
            <a:endParaRPr lang="en-US" sz="1400" dirty="0"/>
          </a:p>
          <a:p>
            <a:pPr marL="342900" indent="-342900">
              <a:spcAft>
                <a:spcPts val="600"/>
              </a:spcAft>
              <a:buSzPct val="100000"/>
              <a:buChar char="•"/>
            </a:pPr>
            <a:r>
              <a:rPr lang="en-US" sz="1400" dirty="0">
                <a:solidFill>
                  <a:srgbClr val="22324A"/>
                </a:solidFill>
                <a:latin typeface="Calibri" pitchFamily="34" charset="0"/>
                <a:ea typeface="Calibri" pitchFamily="34" charset="-122"/>
                <a:cs typeface="Calibri" pitchFamily="34" charset="-120"/>
              </a:rPr>
              <a:t>3D aeroplane with three.js</a:t>
            </a:r>
            <a:endParaRPr lang="en-US" sz="1400" dirty="0"/>
          </a:p>
          <a:p>
            <a:pPr marL="342900" indent="-342900">
              <a:spcAft>
                <a:spcPts val="600"/>
              </a:spcAft>
              <a:buSzPct val="100000"/>
              <a:buChar char="•"/>
            </a:pPr>
            <a:r>
              <a:rPr lang="en-US" sz="1400" dirty="0">
                <a:solidFill>
                  <a:srgbClr val="22324A"/>
                </a:solidFill>
                <a:latin typeface="Calibri" pitchFamily="34" charset="0"/>
                <a:ea typeface="Calibri" pitchFamily="34" charset="-122"/>
                <a:cs typeface="Calibri" pitchFamily="34" charset="-120"/>
              </a:rPr>
              <a:t>Responsive design, light/dark</a:t>
            </a:r>
            <a:endParaRPr lang="en-US" sz="1400" dirty="0"/>
          </a:p>
        </p:txBody>
      </p:sp>
      <p:sp>
        <p:nvSpPr>
          <p:cNvPr id="9" name="Shape 6"/>
          <p:cNvSpPr/>
          <p:nvPr/>
        </p:nvSpPr>
        <p:spPr>
          <a:xfrm>
            <a:off x="3886200" y="2697480"/>
            <a:ext cx="457200" cy="411480"/>
          </a:xfrm>
          <a:prstGeom prst="rightArrow">
            <a:avLst/>
          </a:prstGeom>
          <a:solidFill>
            <a:srgbClr val="146EF5"/>
          </a:solidFill>
          <a:ln w="12700">
            <a:solidFill>
              <a:srgbClr val="146EF5"/>
            </a:solidFill>
            <a:prstDash val="solid"/>
          </a:ln>
        </p:spPr>
      </p:sp>
      <p:sp>
        <p:nvSpPr>
          <p:cNvPr id="10" name="Shape 7"/>
          <p:cNvSpPr/>
          <p:nvPr/>
        </p:nvSpPr>
        <p:spPr>
          <a:xfrm>
            <a:off x="4462272" y="1737360"/>
            <a:ext cx="3246120" cy="2331720"/>
          </a:xfrm>
          <a:prstGeom prst="roundRect">
            <a:avLst>
              <a:gd name="adj" fmla="val 5882"/>
            </a:avLst>
          </a:prstGeom>
          <a:solidFill>
            <a:srgbClr val="FFFFFF"/>
          </a:solidFill>
          <a:ln w="12700">
            <a:solidFill>
              <a:srgbClr val="DCE4EE"/>
            </a:solidFill>
            <a:prstDash val="solid"/>
          </a:ln>
          <a:effectLst>
            <a:outerShdw sx="100000" sy="100000" kx="0" ky="0" algn="bl" rotWithShape="0" blurRad="152400" dist="38100" dir="5400000">
              <a:srgbClr val="000000">
                <a:alpha val="18000"/>
              </a:srgbClr>
            </a:outerShdw>
          </a:effectLst>
        </p:spPr>
      </p:sp>
      <p:sp>
        <p:nvSpPr>
          <p:cNvPr id="11" name="Shape 8"/>
          <p:cNvSpPr/>
          <p:nvPr/>
        </p:nvSpPr>
        <p:spPr>
          <a:xfrm>
            <a:off x="4736592" y="2011680"/>
            <a:ext cx="640080" cy="640080"/>
          </a:xfrm>
          <a:prstGeom prst="ellipse">
            <a:avLst/>
          </a:prstGeom>
          <a:solidFill>
            <a:srgbClr val="E7F0FE"/>
          </a:solidFill>
          <a:ln w="12700">
            <a:solidFill>
              <a:srgbClr val="E7F0FE"/>
            </a:solidFill>
            <a:prstDash val="solid"/>
          </a:ln>
        </p:spPr>
      </p:sp>
      <p:pic>
        <p:nvPicPr>
          <p:cNvPr id="12" name="Image 1" descr="preencoded.png">    </p:cNvPr>
          <p:cNvPicPr>
            <a:picLocks noChangeAspect="1"/>
          </p:cNvPicPr>
          <p:nvPr/>
        </p:nvPicPr>
        <p:blipFill>
          <a:blip r:embed="rId2"/>
          <a:stretch>
            <a:fillRect/>
          </a:stretch>
        </p:blipFill>
        <p:spPr>
          <a:xfrm>
            <a:off x="4896612" y="2171700"/>
            <a:ext cx="320040" cy="320040"/>
          </a:xfrm>
          <a:prstGeom prst="rect">
            <a:avLst/>
          </a:prstGeom>
        </p:spPr>
      </p:pic>
      <p:sp>
        <p:nvSpPr>
          <p:cNvPr id="13" name="Text 9"/>
          <p:cNvSpPr txBox="1"/>
          <p:nvPr/>
        </p:nvSpPr>
        <p:spPr>
          <a:xfrm>
            <a:off x="5513832" y="2084832"/>
            <a:ext cx="2057400" cy="502920"/>
          </a:xfrm>
          <a:prstGeom prst="rect">
            <a:avLst/>
          </a:prstGeom>
          <a:noFill/>
          <a:ln/>
        </p:spPr>
        <p:txBody>
          <a:bodyPr wrap="square" lIns="0" tIns="0" rIns="0" bIns="0" rtlCol="0" anchor="ctr"/>
          <a:lstStyle/>
          <a:p>
            <a:pPr indent="0" marL="0">
              <a:buNone/>
            </a:pPr>
            <a:r>
              <a:rPr lang="en-US" sz="1800" b="1" dirty="0">
                <a:solidFill>
                  <a:srgbClr val="0A1628"/>
                </a:solidFill>
                <a:latin typeface="Calibri" pitchFamily="34" charset="0"/>
                <a:ea typeface="Calibri" pitchFamily="34" charset="-122"/>
                <a:cs typeface="Calibri" pitchFamily="34" charset="-120"/>
              </a:rPr>
              <a:t>Server (back end)</a:t>
            </a:r>
            <a:endParaRPr lang="en-US" sz="1800" dirty="0"/>
          </a:p>
        </p:txBody>
      </p:sp>
      <p:sp>
        <p:nvSpPr>
          <p:cNvPr id="14" name="Text 10"/>
          <p:cNvSpPr txBox="1"/>
          <p:nvPr/>
        </p:nvSpPr>
        <p:spPr>
          <a:xfrm>
            <a:off x="4782312" y="2834640"/>
            <a:ext cx="269748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2324A"/>
                </a:solidFill>
                <a:latin typeface="Calibri" pitchFamily="34" charset="0"/>
                <a:ea typeface="Calibri" pitchFamily="34" charset="-122"/>
                <a:cs typeface="Calibri" pitchFamily="34" charset="-120"/>
              </a:rPr>
              <a:t>Node.js + Express API</a:t>
            </a:r>
            <a:endParaRPr lang="en-US" sz="1400" dirty="0"/>
          </a:p>
          <a:p>
            <a:pPr marL="342900" indent="-342900">
              <a:spcAft>
                <a:spcPts val="600"/>
              </a:spcAft>
              <a:buSzPct val="100000"/>
              <a:buChar char="•"/>
            </a:pPr>
            <a:r>
              <a:rPr lang="en-US" sz="1400" dirty="0">
                <a:solidFill>
                  <a:srgbClr val="22324A"/>
                </a:solidFill>
                <a:latin typeface="Calibri" pitchFamily="34" charset="0"/>
                <a:ea typeface="Calibri" pitchFamily="34" charset="-122"/>
                <a:cs typeface="Calibri" pitchFamily="34" charset="-120"/>
              </a:rPr>
              <a:t>Price engine on the server</a:t>
            </a:r>
            <a:endParaRPr lang="en-US" sz="1400" dirty="0"/>
          </a:p>
          <a:p>
            <a:pPr marL="342900" indent="-342900">
              <a:spcAft>
                <a:spcPts val="600"/>
              </a:spcAft>
              <a:buSzPct val="100000"/>
              <a:buChar char="•"/>
            </a:pPr>
            <a:r>
              <a:rPr lang="en-US" sz="1400" dirty="0">
                <a:solidFill>
                  <a:srgbClr val="22324A"/>
                </a:solidFill>
                <a:latin typeface="Calibri" pitchFamily="34" charset="0"/>
                <a:ea typeface="Calibri" pitchFamily="34" charset="-122"/>
                <a:cs typeface="Calibri" pitchFamily="34" charset="-120"/>
              </a:rPr>
              <a:t>Login, booking, payment, tracking</a:t>
            </a:r>
            <a:endParaRPr lang="en-US" sz="1400" dirty="0"/>
          </a:p>
        </p:txBody>
      </p:sp>
      <p:sp>
        <p:nvSpPr>
          <p:cNvPr id="15" name="Shape 11"/>
          <p:cNvSpPr/>
          <p:nvPr/>
        </p:nvSpPr>
        <p:spPr>
          <a:xfrm>
            <a:off x="7799832" y="2697480"/>
            <a:ext cx="457200" cy="411480"/>
          </a:xfrm>
          <a:prstGeom prst="rightArrow">
            <a:avLst/>
          </a:prstGeom>
          <a:solidFill>
            <a:srgbClr val="146EF5"/>
          </a:solidFill>
          <a:ln w="12700">
            <a:solidFill>
              <a:srgbClr val="146EF5"/>
            </a:solidFill>
            <a:prstDash val="solid"/>
          </a:ln>
        </p:spPr>
      </p:sp>
      <p:sp>
        <p:nvSpPr>
          <p:cNvPr id="16" name="Shape 12"/>
          <p:cNvSpPr/>
          <p:nvPr/>
        </p:nvSpPr>
        <p:spPr>
          <a:xfrm>
            <a:off x="8375904" y="1737360"/>
            <a:ext cx="3246120" cy="2331720"/>
          </a:xfrm>
          <a:prstGeom prst="roundRect">
            <a:avLst>
              <a:gd name="adj" fmla="val 5882"/>
            </a:avLst>
          </a:prstGeom>
          <a:solidFill>
            <a:srgbClr val="071A2F"/>
          </a:solidFill>
          <a:ln w="12700">
            <a:solidFill>
              <a:srgbClr val="071A2F"/>
            </a:solidFill>
            <a:prstDash val="solid"/>
          </a:ln>
          <a:effectLst>
            <a:outerShdw sx="100000" sy="100000" kx="0" ky="0" algn="bl" rotWithShape="0" blurRad="152400" dist="38100" dir="5400000">
              <a:srgbClr val="000000">
                <a:alpha val="18000"/>
              </a:srgbClr>
            </a:outerShdw>
          </a:effectLst>
        </p:spPr>
      </p:sp>
      <p:sp>
        <p:nvSpPr>
          <p:cNvPr id="17" name="Shape 13"/>
          <p:cNvSpPr/>
          <p:nvPr/>
        </p:nvSpPr>
        <p:spPr>
          <a:xfrm>
            <a:off x="8650224" y="2011680"/>
            <a:ext cx="640080" cy="640080"/>
          </a:xfrm>
          <a:prstGeom prst="ellipse">
            <a:avLst/>
          </a:prstGeom>
          <a:solidFill>
            <a:srgbClr val="00A878"/>
          </a:solidFill>
          <a:ln w="12700">
            <a:solidFill>
              <a:srgbClr val="00A878"/>
            </a:solidFill>
            <a:prstDash val="solid"/>
          </a:ln>
        </p:spPr>
      </p:sp>
      <p:pic>
        <p:nvPicPr>
          <p:cNvPr id="18" name="Image 2" descr="preencoded.png">    </p:cNvPr>
          <p:cNvPicPr>
            <a:picLocks noChangeAspect="1"/>
          </p:cNvPicPr>
          <p:nvPr/>
        </p:nvPicPr>
        <p:blipFill>
          <a:blip r:embed="rId3"/>
          <a:stretch>
            <a:fillRect/>
          </a:stretch>
        </p:blipFill>
        <p:spPr>
          <a:xfrm>
            <a:off x="8810244" y="2171700"/>
            <a:ext cx="320040" cy="320040"/>
          </a:xfrm>
          <a:prstGeom prst="rect">
            <a:avLst/>
          </a:prstGeom>
        </p:spPr>
      </p:pic>
      <p:sp>
        <p:nvSpPr>
          <p:cNvPr id="19" name="Text 14"/>
          <p:cNvSpPr txBox="1"/>
          <p:nvPr/>
        </p:nvSpPr>
        <p:spPr>
          <a:xfrm>
            <a:off x="9427464" y="2084832"/>
            <a:ext cx="205740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Database</a:t>
            </a:r>
            <a:endParaRPr lang="en-US" sz="1800" dirty="0"/>
          </a:p>
        </p:txBody>
      </p:sp>
      <p:sp>
        <p:nvSpPr>
          <p:cNvPr id="20" name="Text 15"/>
          <p:cNvSpPr txBox="1"/>
          <p:nvPr/>
        </p:nvSpPr>
        <p:spPr>
          <a:xfrm>
            <a:off x="8695944" y="2834640"/>
            <a:ext cx="269748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D6E2F0"/>
                </a:solidFill>
                <a:latin typeface="Calibri" pitchFamily="34" charset="0"/>
                <a:ea typeface="Calibri" pitchFamily="34" charset="-122"/>
                <a:cs typeface="Calibri" pitchFamily="34" charset="-120"/>
              </a:rPr>
              <a:t>Oracle Database</a:t>
            </a:r>
            <a:endParaRPr lang="en-US" sz="1400" dirty="0"/>
          </a:p>
          <a:p>
            <a:pPr marL="342900" indent="-342900">
              <a:spcAft>
                <a:spcPts val="600"/>
              </a:spcAft>
              <a:buSzPct val="100000"/>
              <a:buChar char="•"/>
            </a:pPr>
            <a:r>
              <a:rPr lang="en-US" sz="1400" dirty="0">
                <a:solidFill>
                  <a:srgbClr val="D6E2F0"/>
                </a:solidFill>
                <a:latin typeface="Calibri" pitchFamily="34" charset="0"/>
                <a:ea typeface="Calibri" pitchFamily="34" charset="-122"/>
                <a:cs typeface="Calibri" pitchFamily="34" charset="-120"/>
              </a:rPr>
              <a:t>Tables created automatically</a:t>
            </a:r>
            <a:endParaRPr lang="en-US" sz="1400" dirty="0"/>
          </a:p>
          <a:p>
            <a:pPr marL="342900" indent="-342900">
              <a:spcAft>
                <a:spcPts val="600"/>
              </a:spcAft>
              <a:buSzPct val="100000"/>
              <a:buChar char="•"/>
            </a:pPr>
            <a:r>
              <a:rPr lang="en-US" sz="1400" dirty="0">
                <a:solidFill>
                  <a:srgbClr val="D6E2F0"/>
                </a:solidFill>
                <a:latin typeface="Calibri" pitchFamily="34" charset="0"/>
                <a:ea typeface="Calibri" pitchFamily="34" charset="-122"/>
                <a:cs typeface="Calibri" pitchFamily="34" charset="-120"/>
              </a:rPr>
              <a:t>SQLite for quick testing</a:t>
            </a:r>
            <a:endParaRPr lang="en-US" sz="1400" dirty="0"/>
          </a:p>
        </p:txBody>
      </p:sp>
      <p:sp>
        <p:nvSpPr>
          <p:cNvPr id="21" name="Text 16"/>
          <p:cNvSpPr txBox="1"/>
          <p:nvPr/>
        </p:nvSpPr>
        <p:spPr>
          <a:xfrm>
            <a:off x="548640" y="4526280"/>
            <a:ext cx="2651760" cy="868680"/>
          </a:xfrm>
          <a:prstGeom prst="rect">
            <a:avLst/>
          </a:prstGeom>
          <a:noFill/>
          <a:ln/>
        </p:spPr>
        <p:txBody>
          <a:bodyPr wrap="square" lIns="0" tIns="0" rIns="0" bIns="0" rtlCol="0" anchor="ctr"/>
          <a:lstStyle/>
          <a:p>
            <a:pPr indent="0" marL="0">
              <a:buNone/>
            </a:pPr>
            <a:r>
              <a:rPr lang="en-US" sz="5400" b="1" dirty="0">
                <a:solidFill>
                  <a:srgbClr val="146EF5"/>
                </a:solidFill>
                <a:latin typeface="Calibri" pitchFamily="34" charset="0"/>
                <a:ea typeface="Calibri" pitchFamily="34" charset="-122"/>
                <a:cs typeface="Calibri" pitchFamily="34" charset="-120"/>
              </a:rPr>
              <a:t>35</a:t>
            </a:r>
            <a:endParaRPr lang="en-US" sz="5400" dirty="0"/>
          </a:p>
        </p:txBody>
      </p:sp>
      <p:sp>
        <p:nvSpPr>
          <p:cNvPr id="22" name="Text 17"/>
          <p:cNvSpPr txBox="1"/>
          <p:nvPr/>
        </p:nvSpPr>
        <p:spPr>
          <a:xfrm>
            <a:off x="548640" y="5394960"/>
            <a:ext cx="2651760" cy="365760"/>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API endpoints</a:t>
            </a:r>
            <a:endParaRPr lang="en-US" sz="1500" dirty="0"/>
          </a:p>
        </p:txBody>
      </p:sp>
      <p:sp>
        <p:nvSpPr>
          <p:cNvPr id="23" name="Text 18"/>
          <p:cNvSpPr txBox="1"/>
          <p:nvPr/>
        </p:nvSpPr>
        <p:spPr>
          <a:xfrm>
            <a:off x="3383280" y="4526280"/>
            <a:ext cx="2651760" cy="868680"/>
          </a:xfrm>
          <a:prstGeom prst="rect">
            <a:avLst/>
          </a:prstGeom>
          <a:noFill/>
          <a:ln/>
        </p:spPr>
        <p:txBody>
          <a:bodyPr wrap="square" lIns="0" tIns="0" rIns="0" bIns="0" rtlCol="0" anchor="ctr"/>
          <a:lstStyle/>
          <a:p>
            <a:pPr indent="0" marL="0">
              <a:buNone/>
            </a:pPr>
            <a:r>
              <a:rPr lang="en-US" sz="5400" b="1" dirty="0">
                <a:solidFill>
                  <a:srgbClr val="00A878"/>
                </a:solidFill>
                <a:latin typeface="Calibri" pitchFamily="34" charset="0"/>
                <a:ea typeface="Calibri" pitchFamily="34" charset="-122"/>
                <a:cs typeface="Calibri" pitchFamily="34" charset="-120"/>
              </a:rPr>
              <a:t>10</a:t>
            </a:r>
            <a:endParaRPr lang="en-US" sz="5400" dirty="0"/>
          </a:p>
        </p:txBody>
      </p:sp>
      <p:sp>
        <p:nvSpPr>
          <p:cNvPr id="24" name="Text 19"/>
          <p:cNvSpPr txBox="1"/>
          <p:nvPr/>
        </p:nvSpPr>
        <p:spPr>
          <a:xfrm>
            <a:off x="3383280" y="5394960"/>
            <a:ext cx="2651760" cy="365760"/>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database tables</a:t>
            </a:r>
            <a:endParaRPr lang="en-US" sz="1500" dirty="0"/>
          </a:p>
        </p:txBody>
      </p:sp>
      <p:sp>
        <p:nvSpPr>
          <p:cNvPr id="25" name="Text 20"/>
          <p:cNvSpPr txBox="1"/>
          <p:nvPr/>
        </p:nvSpPr>
        <p:spPr>
          <a:xfrm>
            <a:off x="6217920" y="4526280"/>
            <a:ext cx="2651760" cy="868680"/>
          </a:xfrm>
          <a:prstGeom prst="rect">
            <a:avLst/>
          </a:prstGeom>
          <a:noFill/>
          <a:ln/>
        </p:spPr>
        <p:txBody>
          <a:bodyPr wrap="square" lIns="0" tIns="0" rIns="0" bIns="0" rtlCol="0" anchor="ctr"/>
          <a:lstStyle/>
          <a:p>
            <a:pPr indent="0" marL="0">
              <a:buNone/>
            </a:pPr>
            <a:r>
              <a:rPr lang="en-US" sz="5400" b="1" dirty="0">
                <a:solidFill>
                  <a:srgbClr val="146EF5"/>
                </a:solidFill>
                <a:latin typeface="Calibri" pitchFamily="34" charset="0"/>
                <a:ea typeface="Calibri" pitchFamily="34" charset="-122"/>
                <a:cs typeface="Calibri" pitchFamily="34" charset="-120"/>
              </a:rPr>
              <a:t>36</a:t>
            </a:r>
            <a:endParaRPr lang="en-US" sz="5400" dirty="0"/>
          </a:p>
        </p:txBody>
      </p:sp>
      <p:sp>
        <p:nvSpPr>
          <p:cNvPr id="26" name="Text 21"/>
          <p:cNvSpPr txBox="1"/>
          <p:nvPr/>
        </p:nvSpPr>
        <p:spPr>
          <a:xfrm>
            <a:off x="6217920" y="5394960"/>
            <a:ext cx="2651760" cy="365760"/>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States &amp; UTs covered</a:t>
            </a:r>
            <a:endParaRPr lang="en-US" sz="1500" dirty="0"/>
          </a:p>
        </p:txBody>
      </p:sp>
      <p:sp>
        <p:nvSpPr>
          <p:cNvPr id="27" name="Text 22"/>
          <p:cNvSpPr txBox="1"/>
          <p:nvPr/>
        </p:nvSpPr>
        <p:spPr>
          <a:xfrm>
            <a:off x="9052560" y="4526280"/>
            <a:ext cx="2651760" cy="868680"/>
          </a:xfrm>
          <a:prstGeom prst="rect">
            <a:avLst/>
          </a:prstGeom>
          <a:noFill/>
          <a:ln/>
        </p:spPr>
        <p:txBody>
          <a:bodyPr wrap="square" lIns="0" tIns="0" rIns="0" bIns="0" rtlCol="0" anchor="ctr"/>
          <a:lstStyle/>
          <a:p>
            <a:pPr indent="0" marL="0">
              <a:buNone/>
            </a:pPr>
            <a:r>
              <a:rPr lang="en-US" sz="5400" b="1" dirty="0">
                <a:solidFill>
                  <a:srgbClr val="00A878"/>
                </a:solidFill>
                <a:latin typeface="Calibri" pitchFamily="34" charset="0"/>
                <a:ea typeface="Calibri" pitchFamily="34" charset="-122"/>
                <a:cs typeface="Calibri" pitchFamily="34" charset="-120"/>
              </a:rPr>
              <a:t>20+</a:t>
            </a:r>
            <a:endParaRPr lang="en-US" sz="5400" dirty="0"/>
          </a:p>
        </p:txBody>
      </p:sp>
      <p:sp>
        <p:nvSpPr>
          <p:cNvPr id="28" name="Text 23"/>
          <p:cNvSpPr txBox="1"/>
          <p:nvPr/>
        </p:nvSpPr>
        <p:spPr>
          <a:xfrm>
            <a:off x="9052560" y="5394960"/>
            <a:ext cx="2651760" cy="365760"/>
          </a:xfrm>
          <a:prstGeom prst="rect">
            <a:avLst/>
          </a:prstGeom>
          <a:noFill/>
          <a:ln/>
        </p:spPr>
        <p:txBody>
          <a:bodyPr wrap="square" lIns="0" tIns="0" rIns="0" bIns="0" rtlCol="0" anchor="ctr"/>
          <a:lstStyle/>
          <a:p>
            <a:pPr indent="0" marL="0">
              <a:buNone/>
            </a:pPr>
            <a:r>
              <a:rPr lang="en-US" sz="1500" dirty="0">
                <a:solidFill>
                  <a:srgbClr val="5D6B7A"/>
                </a:solidFill>
                <a:latin typeface="Calibri" pitchFamily="34" charset="0"/>
                <a:ea typeface="Calibri" pitchFamily="34" charset="-122"/>
                <a:cs typeface="Calibri" pitchFamily="34" charset="-120"/>
              </a:rPr>
              <a:t>website pages</a:t>
            </a:r>
            <a:endParaRPr lang="en-US" sz="1500" dirty="0"/>
          </a:p>
        </p:txBody>
      </p:sp>
      <p:sp>
        <p:nvSpPr>
          <p:cNvPr id="29" name="Text 24"/>
          <p:cNvSpPr txBox="1"/>
          <p:nvPr/>
        </p:nvSpPr>
        <p:spPr>
          <a:xfrm>
            <a:off x="548640" y="6035040"/>
            <a:ext cx="11064240" cy="320040"/>
          </a:xfrm>
          <a:prstGeom prst="rect">
            <a:avLst/>
          </a:prstGeom>
          <a:noFill/>
          <a:ln/>
        </p:spPr>
        <p:txBody>
          <a:bodyPr wrap="square" lIns="0" tIns="0" rIns="0" bIns="0" rtlCol="0" anchor="ctr"/>
          <a:lstStyle/>
          <a:p>
            <a:pPr indent="0" marL="0">
              <a:buNone/>
            </a:pPr>
            <a:r>
              <a:rPr lang="en-US" sz="1300" i="1" dirty="0">
                <a:solidFill>
                  <a:srgbClr val="5D6B7A"/>
                </a:solidFill>
                <a:latin typeface="Calibri" pitchFamily="34" charset="0"/>
                <a:ea typeface="Calibri" pitchFamily="34" charset="-122"/>
                <a:cs typeface="Calibri" pitchFamily="34" charset="-120"/>
              </a:rPr>
              <a:t>Deployable on Vercel or Render · Oracle Cloud Free Tier supported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685800"/>
          </a:xfrm>
          <a:prstGeom prst="rect">
            <a:avLst/>
          </a:prstGeom>
          <a:noFill/>
          <a:ln/>
        </p:spPr>
        <p:txBody>
          <a:bodyPr wrap="square" lIns="0" tIns="0" rIns="0" bIns="0" rtlCol="0" anchor="ctr"/>
          <a:lstStyle/>
          <a:p>
            <a:pPr indent="0" marL="0">
              <a:buNone/>
            </a:pPr>
            <a:r>
              <a:rPr lang="en-US" sz="3600" b="1" dirty="0">
                <a:solidFill>
                  <a:srgbClr val="0A1628"/>
                </a:solidFill>
                <a:latin typeface="Calibri" pitchFamily="34" charset="0"/>
                <a:ea typeface="Calibri" pitchFamily="34" charset="-122"/>
                <a:cs typeface="Calibri" pitchFamily="34" charset="-120"/>
              </a:rPr>
              <a:t>Accounts, security &amp; history</a:t>
            </a:r>
            <a:endParaRPr lang="en-US" sz="3600" dirty="0"/>
          </a:p>
        </p:txBody>
      </p:sp>
      <p:sp>
        <p:nvSpPr>
          <p:cNvPr id="3" name="Text 1"/>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600" dirty="0">
                <a:solidFill>
                  <a:srgbClr val="5D6B7A"/>
                </a:solidFill>
                <a:latin typeface="Calibri" pitchFamily="34" charset="0"/>
                <a:ea typeface="Calibri" pitchFamily="34" charset="-122"/>
                <a:cs typeface="Calibri" pitchFamily="34" charset="-120"/>
              </a:rPr>
              <a:t>Every customer has a private, secure account.</a:t>
            </a:r>
            <a:endParaRPr lang="en-US" sz="1600" dirty="0"/>
          </a:p>
        </p:txBody>
      </p:sp>
      <p:sp>
        <p:nvSpPr>
          <p:cNvPr id="4" name="Shape 2"/>
          <p:cNvSpPr/>
          <p:nvPr/>
        </p:nvSpPr>
        <p:spPr>
          <a:xfrm>
            <a:off x="548640" y="1691640"/>
            <a:ext cx="5120640" cy="3939961"/>
          </a:xfrm>
          <a:prstGeom prst="rect">
            <a:avLst/>
          </a:prstGeom>
          <a:solidFill>
            <a:srgbClr val="FFFFFF"/>
          </a:solidFill>
          <a:ln w="12700">
            <a:solidFill>
              <a:srgbClr val="DCE4EE"/>
            </a:solidFill>
            <a:prstDash val="solid"/>
          </a:ln>
          <a:effectLst>
            <a:outerShdw sx="100000" sy="100000" kx="0" ky="0" algn="bl" rotWithShape="0" blurRad="152400" dist="38100" dir="5400000">
              <a:srgbClr val="000000">
                <a:alpha val="18000"/>
              </a:srgbClr>
            </a:outerShdw>
          </a:effectLst>
        </p:spPr>
      </p:sp>
      <p:pic>
        <p:nvPicPr>
          <p:cNvPr id="5" name="Image 0" descr="/tmp/claude-0/deck/history.png">    </p:cNvPr>
          <p:cNvPicPr>
            <a:picLocks noChangeAspect="1"/>
          </p:cNvPicPr>
          <p:nvPr/>
        </p:nvPicPr>
        <p:blipFill>
          <a:blip r:embed="rId1"/>
          <a:stretch>
            <a:fillRect/>
          </a:stretch>
        </p:blipFill>
        <p:spPr>
          <a:xfrm>
            <a:off x="548640" y="1691640"/>
            <a:ext cx="5120640" cy="3939961"/>
          </a:xfrm>
          <a:prstGeom prst="rect">
            <a:avLst/>
          </a:prstGeom>
        </p:spPr>
      </p:pic>
      <p:sp>
        <p:nvSpPr>
          <p:cNvPr id="6" name="Text 3"/>
          <p:cNvSpPr txBox="1"/>
          <p:nvPr/>
        </p:nvSpPr>
        <p:spPr>
          <a:xfrm>
            <a:off x="548640" y="5715000"/>
            <a:ext cx="5120640" cy="320040"/>
          </a:xfrm>
          <a:prstGeom prst="rect">
            <a:avLst/>
          </a:prstGeom>
          <a:noFill/>
          <a:ln/>
        </p:spPr>
        <p:txBody>
          <a:bodyPr wrap="square" lIns="0" tIns="0" rIns="0" bIns="0" rtlCol="0" anchor="ctr"/>
          <a:lstStyle/>
          <a:p>
            <a:pPr algn="ctr" indent="0" marL="0">
              <a:buNone/>
            </a:pPr>
            <a:r>
              <a:rPr lang="en-US" sz="1200" i="1" dirty="0">
                <a:solidFill>
                  <a:srgbClr val="5D6B7A"/>
                </a:solidFill>
                <a:latin typeface="Calibri" pitchFamily="34" charset="0"/>
                <a:ea typeface="Calibri" pitchFamily="34" charset="-122"/>
                <a:cs typeface="Calibri" pitchFamily="34" charset="-120"/>
              </a:rPr>
              <a:t>Each login sees only its own history</a:t>
            </a:r>
            <a:endParaRPr lang="en-US" sz="1200" dirty="0"/>
          </a:p>
        </p:txBody>
      </p:sp>
      <p:sp>
        <p:nvSpPr>
          <p:cNvPr id="7" name="Shape 4"/>
          <p:cNvSpPr/>
          <p:nvPr/>
        </p:nvSpPr>
        <p:spPr>
          <a:xfrm>
            <a:off x="6172200" y="1737360"/>
            <a:ext cx="566928" cy="566928"/>
          </a:xfrm>
          <a:prstGeom prst="ellipse">
            <a:avLst/>
          </a:prstGeom>
          <a:solidFill>
            <a:srgbClr val="146EF5"/>
          </a:solidFill>
          <a:ln w="12700">
            <a:solidFill>
              <a:srgbClr val="146EF5"/>
            </a:solidFill>
            <a:prstDash val="solid"/>
          </a:ln>
        </p:spPr>
      </p:sp>
      <p:pic>
        <p:nvPicPr>
          <p:cNvPr id="8" name="Image 1" descr="preencoded.png">    </p:cNvPr>
          <p:cNvPicPr>
            <a:picLocks noChangeAspect="1"/>
          </p:cNvPicPr>
          <p:nvPr/>
        </p:nvPicPr>
        <p:blipFill>
          <a:blip r:embed="rId2"/>
          <a:stretch>
            <a:fillRect/>
          </a:stretch>
        </p:blipFill>
        <p:spPr>
          <a:xfrm>
            <a:off x="6313932" y="1879092"/>
            <a:ext cx="283464" cy="283464"/>
          </a:xfrm>
          <a:prstGeom prst="rect">
            <a:avLst/>
          </a:prstGeom>
        </p:spPr>
      </p:pic>
      <p:sp>
        <p:nvSpPr>
          <p:cNvPr id="9" name="Text 5"/>
          <p:cNvSpPr txBox="1"/>
          <p:nvPr/>
        </p:nvSpPr>
        <p:spPr>
          <a:xfrm>
            <a:off x="6922008" y="1719072"/>
            <a:ext cx="4754880" cy="329184"/>
          </a:xfrm>
          <a:prstGeom prst="rect">
            <a:avLst/>
          </a:prstGeom>
          <a:noFill/>
          <a:ln/>
        </p:spPr>
        <p:txBody>
          <a:bodyPr wrap="square" lIns="0" tIns="0" rIns="0" bIns="0"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Passwords are never stored as text</a:t>
            </a:r>
            <a:endParaRPr lang="en-US" sz="1600" dirty="0"/>
          </a:p>
        </p:txBody>
      </p:sp>
      <p:sp>
        <p:nvSpPr>
          <p:cNvPr id="10" name="Text 6"/>
          <p:cNvSpPr txBox="1"/>
          <p:nvPr/>
        </p:nvSpPr>
        <p:spPr>
          <a:xfrm>
            <a:off x="6922008" y="2039112"/>
            <a:ext cx="4754880" cy="320040"/>
          </a:xfrm>
          <a:prstGeom prst="rect">
            <a:avLst/>
          </a:prstGeom>
          <a:noFill/>
          <a:ln/>
        </p:spPr>
        <p:txBody>
          <a:bodyPr wrap="square" lIns="0" tIns="0" rIns="0" bIns="0" rtlCol="0" anchor="ctr"/>
          <a:lstStyle/>
          <a:p>
            <a:pPr indent="0" marL="0">
              <a:buNone/>
            </a:pPr>
            <a:r>
              <a:rPr lang="en-US" sz="1300" dirty="0">
                <a:solidFill>
                  <a:srgbClr val="5D6B7A"/>
                </a:solidFill>
                <a:latin typeface="Calibri" pitchFamily="34" charset="0"/>
                <a:ea typeface="Calibri" pitchFamily="34" charset="-122"/>
                <a:cs typeface="Calibri" pitchFamily="34" charset="-120"/>
              </a:rPr>
              <a:t>Scrambled with scrypt and a random salt</a:t>
            </a:r>
            <a:endParaRPr lang="en-US" sz="1300" dirty="0"/>
          </a:p>
        </p:txBody>
      </p:sp>
      <p:sp>
        <p:nvSpPr>
          <p:cNvPr id="11" name="Shape 7"/>
          <p:cNvSpPr/>
          <p:nvPr/>
        </p:nvSpPr>
        <p:spPr>
          <a:xfrm>
            <a:off x="6172200" y="2587752"/>
            <a:ext cx="566928" cy="566928"/>
          </a:xfrm>
          <a:prstGeom prst="ellipse">
            <a:avLst/>
          </a:prstGeom>
          <a:solidFill>
            <a:srgbClr val="146EF5"/>
          </a:solidFill>
          <a:ln w="12700">
            <a:solidFill>
              <a:srgbClr val="146EF5"/>
            </a:solidFill>
            <a:prstDash val="solid"/>
          </a:ln>
        </p:spPr>
      </p:sp>
      <p:pic>
        <p:nvPicPr>
          <p:cNvPr id="12" name="Image 2" descr="preencoded.png">    </p:cNvPr>
          <p:cNvPicPr>
            <a:picLocks noChangeAspect="1"/>
          </p:cNvPicPr>
          <p:nvPr/>
        </p:nvPicPr>
        <p:blipFill>
          <a:blip r:embed="rId3"/>
          <a:stretch>
            <a:fillRect/>
          </a:stretch>
        </p:blipFill>
        <p:spPr>
          <a:xfrm>
            <a:off x="6313932" y="2729484"/>
            <a:ext cx="283464" cy="283464"/>
          </a:xfrm>
          <a:prstGeom prst="rect">
            <a:avLst/>
          </a:prstGeom>
        </p:spPr>
      </p:pic>
      <p:sp>
        <p:nvSpPr>
          <p:cNvPr id="13" name="Text 8"/>
          <p:cNvSpPr txBox="1"/>
          <p:nvPr/>
        </p:nvSpPr>
        <p:spPr>
          <a:xfrm>
            <a:off x="6922008" y="2569464"/>
            <a:ext cx="4754880" cy="329184"/>
          </a:xfrm>
          <a:prstGeom prst="rect">
            <a:avLst/>
          </a:prstGeom>
          <a:noFill/>
          <a:ln/>
        </p:spPr>
        <p:txBody>
          <a:bodyPr wrap="square" lIns="0" tIns="0" rIns="0" bIns="0"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Safe login sessions</a:t>
            </a:r>
            <a:endParaRPr lang="en-US" sz="1600" dirty="0"/>
          </a:p>
        </p:txBody>
      </p:sp>
      <p:sp>
        <p:nvSpPr>
          <p:cNvPr id="14" name="Text 9"/>
          <p:cNvSpPr txBox="1"/>
          <p:nvPr/>
        </p:nvSpPr>
        <p:spPr>
          <a:xfrm>
            <a:off x="6922008" y="2889504"/>
            <a:ext cx="4754880" cy="320040"/>
          </a:xfrm>
          <a:prstGeom prst="rect">
            <a:avLst/>
          </a:prstGeom>
          <a:noFill/>
          <a:ln/>
        </p:spPr>
        <p:txBody>
          <a:bodyPr wrap="square" lIns="0" tIns="0" rIns="0" bIns="0" rtlCol="0" anchor="ctr"/>
          <a:lstStyle/>
          <a:p>
            <a:pPr indent="0" marL="0">
              <a:buNone/>
            </a:pPr>
            <a:r>
              <a:rPr lang="en-US" sz="1300" dirty="0">
                <a:solidFill>
                  <a:srgbClr val="5D6B7A"/>
                </a:solidFill>
                <a:latin typeface="Calibri" pitchFamily="34" charset="0"/>
                <a:ea typeface="Calibri" pitchFamily="34" charset="-122"/>
                <a:cs typeface="Calibri" pitchFamily="34" charset="-120"/>
              </a:rPr>
              <a:t>Secure cookies; only a hashed token is saved</a:t>
            </a:r>
            <a:endParaRPr lang="en-US" sz="1300" dirty="0"/>
          </a:p>
        </p:txBody>
      </p:sp>
      <p:sp>
        <p:nvSpPr>
          <p:cNvPr id="15" name="Shape 10"/>
          <p:cNvSpPr/>
          <p:nvPr/>
        </p:nvSpPr>
        <p:spPr>
          <a:xfrm>
            <a:off x="6172200" y="3438144"/>
            <a:ext cx="566928" cy="566928"/>
          </a:xfrm>
          <a:prstGeom prst="ellipse">
            <a:avLst/>
          </a:prstGeom>
          <a:solidFill>
            <a:srgbClr val="00A878"/>
          </a:solidFill>
          <a:ln w="12700">
            <a:solidFill>
              <a:srgbClr val="00A878"/>
            </a:solidFill>
            <a:prstDash val="solid"/>
          </a:ln>
        </p:spPr>
      </p:sp>
      <p:pic>
        <p:nvPicPr>
          <p:cNvPr id="16" name="Image 3" descr="preencoded.png">    </p:cNvPr>
          <p:cNvPicPr>
            <a:picLocks noChangeAspect="1"/>
          </p:cNvPicPr>
          <p:nvPr/>
        </p:nvPicPr>
        <p:blipFill>
          <a:blip r:embed="rId4"/>
          <a:stretch>
            <a:fillRect/>
          </a:stretch>
        </p:blipFill>
        <p:spPr>
          <a:xfrm>
            <a:off x="6313932" y="3579876"/>
            <a:ext cx="283464" cy="283464"/>
          </a:xfrm>
          <a:prstGeom prst="rect">
            <a:avLst/>
          </a:prstGeom>
        </p:spPr>
      </p:pic>
      <p:sp>
        <p:nvSpPr>
          <p:cNvPr id="17" name="Text 11"/>
          <p:cNvSpPr txBox="1"/>
          <p:nvPr/>
        </p:nvSpPr>
        <p:spPr>
          <a:xfrm>
            <a:off x="6922008" y="3419856"/>
            <a:ext cx="4754880" cy="329184"/>
          </a:xfrm>
          <a:prstGeom prst="rect">
            <a:avLst/>
          </a:prstGeom>
          <a:noFill/>
          <a:ln/>
        </p:spPr>
        <p:txBody>
          <a:bodyPr wrap="square" lIns="0" tIns="0" rIns="0" bIns="0"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Personal account history</a:t>
            </a:r>
            <a:endParaRPr lang="en-US" sz="1600" dirty="0"/>
          </a:p>
        </p:txBody>
      </p:sp>
      <p:sp>
        <p:nvSpPr>
          <p:cNvPr id="18" name="Text 12"/>
          <p:cNvSpPr txBox="1"/>
          <p:nvPr/>
        </p:nvSpPr>
        <p:spPr>
          <a:xfrm>
            <a:off x="6922008" y="3739896"/>
            <a:ext cx="4754880" cy="320040"/>
          </a:xfrm>
          <a:prstGeom prst="rect">
            <a:avLst/>
          </a:prstGeom>
          <a:noFill/>
          <a:ln/>
        </p:spPr>
        <p:txBody>
          <a:bodyPr wrap="square" lIns="0" tIns="0" rIns="0" bIns="0" rtlCol="0" anchor="ctr"/>
          <a:lstStyle/>
          <a:p>
            <a:pPr indent="0" marL="0">
              <a:buNone/>
            </a:pPr>
            <a:r>
              <a:rPr lang="en-US" sz="1300" dirty="0">
                <a:solidFill>
                  <a:srgbClr val="5D6B7A"/>
                </a:solidFill>
                <a:latin typeface="Calibri" pitchFamily="34" charset="0"/>
                <a:ea typeface="Calibri" pitchFamily="34" charset="-122"/>
                <a:cs typeface="Calibri" pitchFamily="34" charset="-120"/>
              </a:rPr>
              <a:t>Sign-ins, devices, bookings, payments, changes</a:t>
            </a:r>
            <a:endParaRPr lang="en-US" sz="1300" dirty="0"/>
          </a:p>
        </p:txBody>
      </p:sp>
      <p:sp>
        <p:nvSpPr>
          <p:cNvPr id="19" name="Shape 13"/>
          <p:cNvSpPr/>
          <p:nvPr/>
        </p:nvSpPr>
        <p:spPr>
          <a:xfrm>
            <a:off x="6172200" y="4288536"/>
            <a:ext cx="566928" cy="566928"/>
          </a:xfrm>
          <a:prstGeom prst="ellipse">
            <a:avLst/>
          </a:prstGeom>
          <a:solidFill>
            <a:srgbClr val="146EF5"/>
          </a:solidFill>
          <a:ln w="12700">
            <a:solidFill>
              <a:srgbClr val="146EF5"/>
            </a:solidFill>
            <a:prstDash val="solid"/>
          </a:ln>
        </p:spPr>
      </p:sp>
      <p:pic>
        <p:nvPicPr>
          <p:cNvPr id="20" name="Image 4" descr="preencoded.png">    </p:cNvPr>
          <p:cNvPicPr>
            <a:picLocks noChangeAspect="1"/>
          </p:cNvPicPr>
          <p:nvPr/>
        </p:nvPicPr>
        <p:blipFill>
          <a:blip r:embed="rId5"/>
          <a:stretch>
            <a:fillRect/>
          </a:stretch>
        </p:blipFill>
        <p:spPr>
          <a:xfrm>
            <a:off x="6313932" y="4430268"/>
            <a:ext cx="283464" cy="283464"/>
          </a:xfrm>
          <a:prstGeom prst="rect">
            <a:avLst/>
          </a:prstGeom>
        </p:spPr>
      </p:pic>
      <p:sp>
        <p:nvSpPr>
          <p:cNvPr id="21" name="Text 14"/>
          <p:cNvSpPr txBox="1"/>
          <p:nvPr/>
        </p:nvSpPr>
        <p:spPr>
          <a:xfrm>
            <a:off x="6922008" y="4270248"/>
            <a:ext cx="4754880" cy="329184"/>
          </a:xfrm>
          <a:prstGeom prst="rect">
            <a:avLst/>
          </a:prstGeom>
          <a:noFill/>
          <a:ln/>
        </p:spPr>
        <p:txBody>
          <a:bodyPr wrap="square" lIns="0" tIns="0" rIns="0" bIns="0"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Continue with Google</a:t>
            </a:r>
            <a:endParaRPr lang="en-US" sz="1600" dirty="0"/>
          </a:p>
        </p:txBody>
      </p:sp>
      <p:sp>
        <p:nvSpPr>
          <p:cNvPr id="22" name="Text 15"/>
          <p:cNvSpPr txBox="1"/>
          <p:nvPr/>
        </p:nvSpPr>
        <p:spPr>
          <a:xfrm>
            <a:off x="6922008" y="4590288"/>
            <a:ext cx="4754880" cy="320040"/>
          </a:xfrm>
          <a:prstGeom prst="rect">
            <a:avLst/>
          </a:prstGeom>
          <a:noFill/>
          <a:ln/>
        </p:spPr>
        <p:txBody>
          <a:bodyPr wrap="square" lIns="0" tIns="0" rIns="0" bIns="0" rtlCol="0" anchor="ctr"/>
          <a:lstStyle/>
          <a:p>
            <a:pPr indent="0" marL="0">
              <a:buNone/>
            </a:pPr>
            <a:r>
              <a:rPr lang="en-US" sz="1300" dirty="0">
                <a:solidFill>
                  <a:srgbClr val="5D6B7A"/>
                </a:solidFill>
                <a:latin typeface="Calibri" pitchFamily="34" charset="0"/>
                <a:ea typeface="Calibri" pitchFamily="34" charset="-122"/>
                <a:cs typeface="Calibri" pitchFamily="34" charset="-120"/>
              </a:rPr>
              <a:t>Google’s own sign-in window, no email shown</a:t>
            </a:r>
            <a:endParaRPr lang="en-US" sz="1300" dirty="0"/>
          </a:p>
        </p:txBody>
      </p:sp>
      <p:sp>
        <p:nvSpPr>
          <p:cNvPr id="23" name="Shape 16"/>
          <p:cNvSpPr/>
          <p:nvPr/>
        </p:nvSpPr>
        <p:spPr>
          <a:xfrm>
            <a:off x="6172200" y="5138928"/>
            <a:ext cx="566928" cy="566928"/>
          </a:xfrm>
          <a:prstGeom prst="ellipse">
            <a:avLst/>
          </a:prstGeom>
          <a:solidFill>
            <a:srgbClr val="146EF5"/>
          </a:solidFill>
          <a:ln w="12700">
            <a:solidFill>
              <a:srgbClr val="146EF5"/>
            </a:solidFill>
            <a:prstDash val="solid"/>
          </a:ln>
        </p:spPr>
      </p:sp>
      <p:pic>
        <p:nvPicPr>
          <p:cNvPr id="24" name="Image 5" descr="preencoded.png">    </p:cNvPr>
          <p:cNvPicPr>
            <a:picLocks noChangeAspect="1"/>
          </p:cNvPicPr>
          <p:nvPr/>
        </p:nvPicPr>
        <p:blipFill>
          <a:blip r:embed="rId6"/>
          <a:stretch>
            <a:fillRect/>
          </a:stretch>
        </p:blipFill>
        <p:spPr>
          <a:xfrm>
            <a:off x="6313932" y="5280660"/>
            <a:ext cx="283464" cy="283464"/>
          </a:xfrm>
          <a:prstGeom prst="rect">
            <a:avLst/>
          </a:prstGeom>
        </p:spPr>
      </p:pic>
      <p:sp>
        <p:nvSpPr>
          <p:cNvPr id="25" name="Text 17"/>
          <p:cNvSpPr txBox="1"/>
          <p:nvPr/>
        </p:nvSpPr>
        <p:spPr>
          <a:xfrm>
            <a:off x="6922008" y="5120640"/>
            <a:ext cx="4754880" cy="329184"/>
          </a:xfrm>
          <a:prstGeom prst="rect">
            <a:avLst/>
          </a:prstGeom>
          <a:noFill/>
          <a:ln/>
        </p:spPr>
        <p:txBody>
          <a:bodyPr wrap="square" lIns="0" tIns="0" rIns="0" bIns="0" rtlCol="0" anchor="ctr"/>
          <a:lstStyle/>
          <a:p>
            <a:pPr indent="0" marL="0">
              <a:buNone/>
            </a:pPr>
            <a:r>
              <a:rPr lang="en-US" sz="1600" b="1" dirty="0">
                <a:solidFill>
                  <a:srgbClr val="0A1628"/>
                </a:solidFill>
                <a:latin typeface="Calibri" pitchFamily="34" charset="0"/>
                <a:ea typeface="Calibri" pitchFamily="34" charset="-122"/>
                <a:cs typeface="Calibri" pitchFamily="34" charset="-120"/>
              </a:rPr>
              <a:t>Hidden admin console</a:t>
            </a:r>
            <a:endParaRPr lang="en-US" sz="1600" dirty="0"/>
          </a:p>
        </p:txBody>
      </p:sp>
      <p:sp>
        <p:nvSpPr>
          <p:cNvPr id="26" name="Text 18"/>
          <p:cNvSpPr txBox="1"/>
          <p:nvPr/>
        </p:nvSpPr>
        <p:spPr>
          <a:xfrm>
            <a:off x="6922008" y="5440680"/>
            <a:ext cx="4754880" cy="320040"/>
          </a:xfrm>
          <a:prstGeom prst="rect">
            <a:avLst/>
          </a:prstGeom>
          <a:noFill/>
          <a:ln/>
        </p:spPr>
        <p:txBody>
          <a:bodyPr wrap="square" lIns="0" tIns="0" rIns="0" bIns="0" rtlCol="0" anchor="ctr"/>
          <a:lstStyle/>
          <a:p>
            <a:pPr indent="0" marL="0">
              <a:buNone/>
            </a:pPr>
            <a:r>
              <a:rPr lang="en-US" sz="1300" dirty="0">
                <a:solidFill>
                  <a:srgbClr val="5D6B7A"/>
                </a:solidFill>
                <a:latin typeface="Calibri" pitchFamily="34" charset="0"/>
                <a:ea typeface="Calibri" pitchFamily="34" charset="-122"/>
                <a:cs typeface="Calibri" pitchFamily="34" charset="-120"/>
              </a:rPr>
              <a:t>Read-only view of the database for staff</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A2F"/>
        </a:solidFill>
      </p:bgPr>
    </p:bg>
    <p:spTree>
      <p:nvGrpSpPr>
        <p:cNvPr id="1" name=""/>
        <p:cNvGrpSpPr/>
        <p:nvPr/>
      </p:nvGrpSpPr>
      <p:grpSpPr>
        <a:xfrm>
          <a:off x="0" y="0"/>
          <a:ext cx="0" cy="0"/>
          <a:chOff x="0" y="0"/>
          <a:chExt cx="0" cy="0"/>
        </a:xfrm>
      </p:grpSpPr>
      <p:sp>
        <p:nvSpPr>
          <p:cNvPr id="2" name="Shape 0"/>
          <p:cNvSpPr/>
          <p:nvPr/>
        </p:nvSpPr>
        <p:spPr>
          <a:xfrm>
            <a:off x="5641848" y="822960"/>
            <a:ext cx="914400" cy="914400"/>
          </a:xfrm>
          <a:prstGeom prst="roundRect">
            <a:avLst>
              <a:gd name="adj" fmla="val 22000"/>
            </a:avLst>
          </a:prstGeom>
          <a:solidFill>
            <a:srgbClr val="146EF5"/>
          </a:solidFill>
          <a:ln w="12700">
            <a:solidFill>
              <a:srgbClr val="146EF5"/>
            </a:solidFill>
            <a:prstDash val="solid"/>
          </a:ln>
        </p:spPr>
      </p:sp>
      <p:sp>
        <p:nvSpPr>
          <p:cNvPr id="3" name="Text 1"/>
          <p:cNvSpPr txBox="1"/>
          <p:nvPr/>
        </p:nvSpPr>
        <p:spPr>
          <a:xfrm>
            <a:off x="5641848" y="822960"/>
            <a:ext cx="914400" cy="9144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YA</a:t>
            </a:r>
            <a:pPr algn="ctr" indent="0" marL="0">
              <a:buNone/>
            </a:pPr>
            <a:r>
              <a:rPr lang="en-US" sz="2600" b="1" dirty="0">
                <a:solidFill>
                  <a:srgbClr val="7FF0C8"/>
                </a:solidFill>
                <a:latin typeface="Calibri" pitchFamily="34" charset="0"/>
                <a:ea typeface="Calibri" pitchFamily="34" charset="-122"/>
                <a:cs typeface="Calibri" pitchFamily="34" charset="-120"/>
              </a:rPr>
              <a:t>²</a:t>
            </a:r>
            <a:endParaRPr lang="en-US" sz="2600" dirty="0"/>
          </a:p>
        </p:txBody>
      </p:sp>
      <p:sp>
        <p:nvSpPr>
          <p:cNvPr id="4" name="Text 2"/>
          <p:cNvSpPr txBox="1"/>
          <p:nvPr/>
        </p:nvSpPr>
        <p:spPr>
          <a:xfrm>
            <a:off x="548640" y="2011680"/>
            <a:ext cx="11064240" cy="1188720"/>
          </a:xfrm>
          <a:prstGeom prst="rect">
            <a:avLst/>
          </a:prstGeom>
          <a:noFill/>
          <a:ln/>
        </p:spPr>
        <p:txBody>
          <a:bodyPr wrap="square" lIns="0" tIns="0" rIns="0" bIns="0" rtlCol="0" anchor="ctr"/>
          <a:lstStyle/>
          <a:p>
            <a:pPr algn="ctr" indent="0" marL="0">
              <a:buNone/>
            </a:pPr>
            <a:r>
              <a:rPr lang="en-US" sz="6600" b="1" dirty="0">
                <a:solidFill>
                  <a:srgbClr val="FFFFFF"/>
                </a:solidFill>
                <a:latin typeface="Calibri" pitchFamily="34" charset="0"/>
                <a:ea typeface="Calibri" pitchFamily="34" charset="-122"/>
                <a:cs typeface="Calibri" pitchFamily="34" charset="-120"/>
              </a:rPr>
              <a:t>Thank You</a:t>
            </a:r>
            <a:endParaRPr lang="en-US" sz="6600" dirty="0"/>
          </a:p>
        </p:txBody>
      </p:sp>
      <p:sp>
        <p:nvSpPr>
          <p:cNvPr id="5" name="Text 3"/>
          <p:cNvSpPr txBox="1"/>
          <p:nvPr/>
        </p:nvSpPr>
        <p:spPr>
          <a:xfrm>
            <a:off x="548640" y="3154680"/>
            <a:ext cx="11064240" cy="502920"/>
          </a:xfrm>
          <a:prstGeom prst="rect">
            <a:avLst/>
          </a:prstGeom>
          <a:noFill/>
          <a:ln/>
        </p:spPr>
        <p:txBody>
          <a:bodyPr wrap="square" lIns="0" tIns="0" rIns="0" bIns="0" rtlCol="0" anchor="ctr"/>
          <a:lstStyle/>
          <a:p>
            <a:pPr algn="ctr" indent="0" marL="0">
              <a:buNone/>
            </a:pPr>
            <a:r>
              <a:rPr lang="en-US" sz="2400" i="1" dirty="0">
                <a:solidFill>
                  <a:srgbClr val="5FE3B5"/>
                </a:solidFill>
                <a:latin typeface="Calibri" pitchFamily="34" charset="0"/>
                <a:ea typeface="Calibri" pitchFamily="34" charset="-122"/>
                <a:cs typeface="Calibri" pitchFamily="34" charset="-120"/>
              </a:rPr>
              <a:t>Questions are welcome.</a:t>
            </a:r>
            <a:endParaRPr lang="en-US" sz="2400" dirty="0"/>
          </a:p>
        </p:txBody>
      </p:sp>
      <p:sp>
        <p:nvSpPr>
          <p:cNvPr id="6" name="Shape 4"/>
          <p:cNvSpPr/>
          <p:nvPr/>
        </p:nvSpPr>
        <p:spPr>
          <a:xfrm>
            <a:off x="518008" y="4343400"/>
            <a:ext cx="3566160" cy="731520"/>
          </a:xfrm>
          <a:prstGeom prst="roundRect">
            <a:avLst>
              <a:gd name="adj" fmla="val 50000"/>
            </a:avLst>
          </a:prstGeom>
          <a:solidFill>
            <a:srgbClr val="0B2A4A"/>
          </a:solidFill>
          <a:ln w="12700">
            <a:solidFill>
              <a:srgbClr val="24486F"/>
            </a:solidFill>
            <a:prstDash val="solid"/>
          </a:ln>
        </p:spPr>
      </p:sp>
      <p:sp>
        <p:nvSpPr>
          <p:cNvPr id="7" name="Shape 5"/>
          <p:cNvSpPr/>
          <p:nvPr/>
        </p:nvSpPr>
        <p:spPr>
          <a:xfrm>
            <a:off x="646024" y="4453128"/>
            <a:ext cx="512064" cy="512064"/>
          </a:xfrm>
          <a:prstGeom prst="ellipse">
            <a:avLst/>
          </a:prstGeom>
          <a:solidFill>
            <a:srgbClr val="146EF5"/>
          </a:solidFill>
          <a:ln w="12700">
            <a:solidFill>
              <a:srgbClr val="146EF5"/>
            </a:solidFill>
            <a:prstDash val="solid"/>
          </a:ln>
        </p:spPr>
      </p:sp>
      <p:pic>
        <p:nvPicPr>
          <p:cNvPr id="8" name="Image 0" descr="preencoded.png">    </p:cNvPr>
          <p:cNvPicPr>
            <a:picLocks noChangeAspect="1"/>
          </p:cNvPicPr>
          <p:nvPr/>
        </p:nvPicPr>
        <p:blipFill>
          <a:blip r:embed="rId1"/>
          <a:stretch>
            <a:fillRect/>
          </a:stretch>
        </p:blipFill>
        <p:spPr>
          <a:xfrm>
            <a:off x="774040" y="4581144"/>
            <a:ext cx="256032" cy="256032"/>
          </a:xfrm>
          <a:prstGeom prst="rect">
            <a:avLst/>
          </a:prstGeom>
        </p:spPr>
      </p:pic>
      <p:sp>
        <p:nvSpPr>
          <p:cNvPr id="9" name="Text 6"/>
          <p:cNvSpPr txBox="1"/>
          <p:nvPr/>
        </p:nvSpPr>
        <p:spPr>
          <a:xfrm>
            <a:off x="1267816" y="4343400"/>
            <a:ext cx="269748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+1 (555) 019-9238</a:t>
            </a:r>
            <a:endParaRPr lang="en-US" sz="1500" dirty="0"/>
          </a:p>
        </p:txBody>
      </p:sp>
      <p:sp>
        <p:nvSpPr>
          <p:cNvPr id="10" name="Shape 7"/>
          <p:cNvSpPr/>
          <p:nvPr/>
        </p:nvSpPr>
        <p:spPr>
          <a:xfrm>
            <a:off x="4312768" y="4343400"/>
            <a:ext cx="3566160" cy="731520"/>
          </a:xfrm>
          <a:prstGeom prst="roundRect">
            <a:avLst>
              <a:gd name="adj" fmla="val 50000"/>
            </a:avLst>
          </a:prstGeom>
          <a:solidFill>
            <a:srgbClr val="0B2A4A"/>
          </a:solidFill>
          <a:ln w="12700">
            <a:solidFill>
              <a:srgbClr val="24486F"/>
            </a:solidFill>
            <a:prstDash val="solid"/>
          </a:ln>
        </p:spPr>
      </p:sp>
      <p:sp>
        <p:nvSpPr>
          <p:cNvPr id="11" name="Shape 8"/>
          <p:cNvSpPr/>
          <p:nvPr/>
        </p:nvSpPr>
        <p:spPr>
          <a:xfrm>
            <a:off x="4440784" y="4453128"/>
            <a:ext cx="512064" cy="512064"/>
          </a:xfrm>
          <a:prstGeom prst="ellipse">
            <a:avLst/>
          </a:prstGeom>
          <a:solidFill>
            <a:srgbClr val="146EF5"/>
          </a:solidFill>
          <a:ln w="12700">
            <a:solidFill>
              <a:srgbClr val="146EF5"/>
            </a:solidFill>
            <a:prstDash val="solid"/>
          </a:ln>
        </p:spPr>
      </p:sp>
      <p:pic>
        <p:nvPicPr>
          <p:cNvPr id="12" name="Image 1" descr="preencoded.png">    </p:cNvPr>
          <p:cNvPicPr>
            <a:picLocks noChangeAspect="1"/>
          </p:cNvPicPr>
          <p:nvPr/>
        </p:nvPicPr>
        <p:blipFill>
          <a:blip r:embed="rId2"/>
          <a:stretch>
            <a:fillRect/>
          </a:stretch>
        </p:blipFill>
        <p:spPr>
          <a:xfrm>
            <a:off x="4568800" y="4581144"/>
            <a:ext cx="256032" cy="256032"/>
          </a:xfrm>
          <a:prstGeom prst="rect">
            <a:avLst/>
          </a:prstGeom>
        </p:spPr>
      </p:pic>
      <p:sp>
        <p:nvSpPr>
          <p:cNvPr id="13" name="Text 9"/>
          <p:cNvSpPr txBox="1"/>
          <p:nvPr/>
        </p:nvSpPr>
        <p:spPr>
          <a:xfrm>
            <a:off x="5062576" y="4343400"/>
            <a:ext cx="269748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indracomputers33@gmail.com</a:t>
            </a:r>
            <a:endParaRPr lang="en-US" sz="1500" dirty="0"/>
          </a:p>
        </p:txBody>
      </p:sp>
      <p:sp>
        <p:nvSpPr>
          <p:cNvPr id="14" name="Shape 10"/>
          <p:cNvSpPr/>
          <p:nvPr/>
        </p:nvSpPr>
        <p:spPr>
          <a:xfrm>
            <a:off x="8107528" y="4343400"/>
            <a:ext cx="3566160" cy="731520"/>
          </a:xfrm>
          <a:prstGeom prst="roundRect">
            <a:avLst>
              <a:gd name="adj" fmla="val 50000"/>
            </a:avLst>
          </a:prstGeom>
          <a:solidFill>
            <a:srgbClr val="0B2A4A"/>
          </a:solidFill>
          <a:ln w="12700">
            <a:solidFill>
              <a:srgbClr val="24486F"/>
            </a:solidFill>
            <a:prstDash val="solid"/>
          </a:ln>
        </p:spPr>
      </p:sp>
      <p:sp>
        <p:nvSpPr>
          <p:cNvPr id="15" name="Shape 11"/>
          <p:cNvSpPr/>
          <p:nvPr/>
        </p:nvSpPr>
        <p:spPr>
          <a:xfrm>
            <a:off x="8235544" y="4453128"/>
            <a:ext cx="512064" cy="512064"/>
          </a:xfrm>
          <a:prstGeom prst="ellipse">
            <a:avLst/>
          </a:prstGeom>
          <a:solidFill>
            <a:srgbClr val="146EF5"/>
          </a:solidFill>
          <a:ln w="12700">
            <a:solidFill>
              <a:srgbClr val="146EF5"/>
            </a:solidFill>
            <a:prstDash val="solid"/>
          </a:ln>
        </p:spPr>
      </p:sp>
      <p:pic>
        <p:nvPicPr>
          <p:cNvPr id="16" name="Image 2" descr="preencoded.png">    </p:cNvPr>
          <p:cNvPicPr>
            <a:picLocks noChangeAspect="1"/>
          </p:cNvPicPr>
          <p:nvPr/>
        </p:nvPicPr>
        <p:blipFill>
          <a:blip r:embed="rId3"/>
          <a:stretch>
            <a:fillRect/>
          </a:stretch>
        </p:blipFill>
        <p:spPr>
          <a:xfrm>
            <a:off x="8363560" y="4581144"/>
            <a:ext cx="256032" cy="256032"/>
          </a:xfrm>
          <a:prstGeom prst="rect">
            <a:avLst/>
          </a:prstGeom>
        </p:spPr>
      </p:pic>
      <p:sp>
        <p:nvSpPr>
          <p:cNvPr id="17" name="Text 12"/>
          <p:cNvSpPr txBox="1"/>
          <p:nvPr/>
        </p:nvSpPr>
        <p:spPr>
          <a:xfrm>
            <a:off x="8857336" y="4343400"/>
            <a:ext cx="269748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ljpun072@gmail.com</a:t>
            </a:r>
            <a:endParaRPr lang="en-US" sz="1500" dirty="0"/>
          </a:p>
        </p:txBody>
      </p:sp>
      <p:sp>
        <p:nvSpPr>
          <p:cNvPr id="18" name="Text 13"/>
          <p:cNvSpPr txBox="1"/>
          <p:nvPr/>
        </p:nvSpPr>
        <p:spPr>
          <a:xfrm>
            <a:off x="548640" y="5852160"/>
            <a:ext cx="11064240" cy="365760"/>
          </a:xfrm>
          <a:prstGeom prst="rect">
            <a:avLst/>
          </a:prstGeom>
          <a:noFill/>
          <a:ln/>
        </p:spPr>
        <p:txBody>
          <a:bodyPr wrap="square" lIns="0" tIns="0" rIns="0" bIns="0" rtlCol="0" anchor="ctr"/>
          <a:lstStyle/>
          <a:p>
            <a:pPr algn="ctr" indent="0" marL="0">
              <a:buNone/>
            </a:pPr>
            <a:r>
              <a:rPr lang="en-US" sz="1400" dirty="0">
                <a:solidFill>
                  <a:srgbClr val="8FA6C2"/>
                </a:solidFill>
                <a:latin typeface="Calibri" pitchFamily="34" charset="0"/>
                <a:ea typeface="Calibri" pitchFamily="34" charset="-122"/>
                <a:cs typeface="Calibri" pitchFamily="34" charset="-120"/>
              </a:rPr>
              <a:t>YA² Transport · Moving India Forward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YA² Transport — Website Presentation</dc:title>
  <dc:subject>PptxGenJS Presentation</dc:subject>
  <dc:creator>PptxGenJS</dc:creator>
  <cp:lastModifiedBy>PptxGenJS</cp:lastModifiedBy>
  <cp:revision>1</cp:revision>
  <dcterms:created xsi:type="dcterms:W3CDTF">2026-10-01T04:46:53Z</dcterms:created>
  <dcterms:modified xsi:type="dcterms:W3CDTF">2026-10-01T04:46:53Z</dcterms:modified>
</cp:coreProperties>
</file>